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Relationships xmlns="http://schemas.openxmlformats.org/package/2006/relationships"><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914400"/>
          </a:xfrm>
          <a:prstGeom prst="rect">
            <a:avLst/>
          </a:prstGeom>
          <a:noFill/>
          <a:ln/>
        </p:spPr>
        <p:txBody>
          <a:bodyPr wrap="square" rtlCol="0" anchor="ctr"/>
          <a:lstStyle/>
          <a:p>
            <a:pPr indent="0" marL="0">
              <a:buNone/>
            </a:pPr>
            <a:r>
              <a:rPr lang="en-US" sz="3600" b="1" dirty="0">
                <a:solidFill>
                  <a:srgbClr val="1F3864"/>
                </a:solidFill>
                <a:latin typeface="Arial" pitchFamily="34" charset="0"/>
                <a:ea typeface="Arial" pitchFamily="34" charset="-122"/>
                <a:cs typeface="Arial" pitchFamily="34" charset="-120"/>
              </a:rPr>
              <a:t>Contoso Freight – Month 1 Update</a:t>
            </a:r>
            <a:endParaRPr lang="en-US" sz="3600" dirty="0"/>
          </a:p>
        </p:txBody>
      </p:sp>
      <p:sp>
        <p:nvSpPr>
          <p:cNvPr id="3" name="Text 1"/>
          <p:cNvSpPr/>
          <p:nvPr/>
        </p:nvSpPr>
        <p:spPr>
          <a:xfrm>
            <a:off x="548640" y="3383280"/>
            <a:ext cx="11064240" cy="457200"/>
          </a:xfrm>
          <a:prstGeom prst="rect">
            <a:avLst/>
          </a:prstGeom>
          <a:noFill/>
          <a:ln/>
        </p:spPr>
        <p:txBody>
          <a:bodyPr wrap="square" rtlCol="0" anchor="ctr"/>
          <a:lstStyle/>
          <a:p>
            <a:pPr indent="0" marL="0">
              <a:buNone/>
            </a:pPr>
            <a:r>
              <a:rPr lang="en-US" sz="1800" dirty="0">
                <a:solidFill>
                  <a:srgbClr val="888888"/>
                </a:solidFill>
                <a:latin typeface="Arial" pitchFamily="34" charset="0"/>
                <a:ea typeface="Arial" pitchFamily="34" charset="-122"/>
                <a:cs typeface="Arial" pitchFamily="34" charset="-120"/>
              </a:rPr>
              <a:t>Business review – DRAFT (internal)</a:t>
            </a:r>
            <a:endParaRPr lang="en-US" sz="1800" dirty="0"/>
          </a:p>
        </p:txBody>
      </p:sp>
      <p:sp>
        <p:nvSpPr>
          <p:cNvPr id="4" name="Text 2"/>
          <p:cNvSpPr/>
          <p:nvPr/>
        </p:nvSpPr>
        <p:spPr>
          <a:xfrm>
            <a:off x="548640" y="3840480"/>
            <a:ext cx="11064240" cy="365760"/>
          </a:xfrm>
          <a:prstGeom prst="rect">
            <a:avLst/>
          </a:prstGeom>
          <a:noFill/>
          <a:ln/>
        </p:spPr>
        <p:txBody>
          <a:bodyPr wrap="square" rtlCol="0" anchor="ctr"/>
          <a:lstStyle/>
          <a:p>
            <a:pPr indent="0" marL="0">
              <a:buNone/>
            </a:pPr>
            <a:r>
              <a:rPr lang="en-US" sz="1400" i="1" dirty="0">
                <a:solidFill>
                  <a:srgbClr val="AAAAAA"/>
                </a:solidFill>
                <a:latin typeface="Arial" pitchFamily="34" charset="0"/>
                <a:ea typeface="Arial" pitchFamily="34" charset="-122"/>
                <a:cs typeface="Arial" pitchFamily="34" charset="-120"/>
              </a:rPr>
              <a:t>[add presenter name and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Agenda</a:t>
            </a:r>
            <a:endParaRPr lang="en-US" sz="3000" dirty="0"/>
          </a:p>
        </p:txBody>
      </p:sp>
      <p:sp>
        <p:nvSpPr>
          <p:cNvPr id="3" name="Text 1"/>
          <p:cNvSpPr/>
          <p:nvPr/>
        </p:nvSpPr>
        <p:spPr>
          <a:xfrm>
            <a:off x="731520" y="1280160"/>
            <a:ext cx="10698480" cy="5029200"/>
          </a:xfrm>
          <a:prstGeom prst="rect">
            <a:avLst/>
          </a:prstGeom>
          <a:noFill/>
          <a:ln/>
        </p:spPr>
        <p:txBody>
          <a:bodyPr wrap="square" rtlCol="0" anchor="ctr"/>
          <a:lstStyle/>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Welcome and where we are after going independent on June 1</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Financial snapshot for the period (revenue, margin, lanes)</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Operational performance and the situation at the Newark gateway</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Customer health, including Pacific Rim Imports and others</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Cash position and accounts receivable</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Transition services agreement progress and exit dates</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Top risks and what we are doing about them</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Next steps for the next 30, 60, and 90 days</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Questions and discussion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How the first month went</a:t>
            </a:r>
            <a:endParaRPr lang="en-US" sz="3000" dirty="0"/>
          </a:p>
        </p:txBody>
      </p:sp>
      <p:sp>
        <p:nvSpPr>
          <p:cNvPr id="3" name="Text 1"/>
          <p:cNvSpPr/>
          <p:nvPr/>
        </p:nvSpPr>
        <p:spPr>
          <a:xfrm>
            <a:off x="731520" y="1280160"/>
            <a:ext cx="10881360" cy="5120640"/>
          </a:xfrm>
          <a:prstGeom prst="rect">
            <a:avLst/>
          </a:prstGeom>
          <a:noFill/>
          <a:ln/>
        </p:spPr>
        <p:txBody>
          <a:bodyPr wrap="square" rtlCol="0" anchor="ctr"/>
          <a:lstStyle/>
          <a:p>
            <a:pPr marL="342900" indent="-342900">
              <a:lnSpc>
                <a:spcPct val="110000"/>
              </a:lnSpc>
              <a:buSzPct val="100000"/>
              <a:buChar char="•"/>
            </a:pPr>
            <a:r>
              <a:rPr lang="en-US" sz="1500" dirty="0">
                <a:solidFill>
                  <a:srgbClr val="333333"/>
                </a:solidFill>
                <a:latin typeface="Arial" pitchFamily="34" charset="0"/>
                <a:ea typeface="Arial" pitchFamily="34" charset="-122"/>
                <a:cs typeface="Arial" pitchFamily="34" charset="-120"/>
              </a:rPr>
              <a:t>Shipment revenue for the period was about $3.67M across 410 shipments and our blended gross margin was around 18% which is roughly in line with what we expected for the first month although it is early and one month is not a trend.</a:t>
            </a:r>
            <a:endParaRPr lang="en-US" sz="1500" dirty="0"/>
          </a:p>
          <a:p>
            <a:pPr marL="342900" indent="-342900">
              <a:lnSpc>
                <a:spcPct val="110000"/>
              </a:lnSpc>
              <a:buSzPct val="100000"/>
              <a:buChar char="•"/>
            </a:pPr>
            <a:r>
              <a:rPr lang="en-US" sz="1500" dirty="0">
                <a:solidFill>
                  <a:srgbClr val="333333"/>
                </a:solidFill>
                <a:latin typeface="Arial" pitchFamily="34" charset="0"/>
                <a:ea typeface="Arial" pitchFamily="34" charset="-122"/>
                <a:cs typeface="Arial" pitchFamily="34" charset="-120"/>
              </a:rPr>
              <a:t>Our air lanes are doing the best, Frankfurt to Miami did about $766K of revenue at roughly 21% margin and Hong Kong to Chicago did about $475K at roughly 22% margin, these are our most profitable lanes by a good distance.</a:t>
            </a:r>
            <a:endParaRPr lang="en-US" sz="1500" dirty="0"/>
          </a:p>
          <a:p>
            <a:pPr marL="342900" indent="-342900">
              <a:lnSpc>
                <a:spcPct val="110000"/>
              </a:lnSpc>
              <a:buSzPct val="100000"/>
              <a:buChar char="•"/>
            </a:pPr>
            <a:r>
              <a:rPr lang="en-US" sz="1500" dirty="0">
                <a:solidFill>
                  <a:srgbClr val="333333"/>
                </a:solidFill>
                <a:latin typeface="Arial" pitchFamily="34" charset="0"/>
                <a:ea typeface="Arial" pitchFamily="34" charset="-122"/>
                <a:cs typeface="Arial" pitchFamily="34" charset="-120"/>
              </a:rPr>
              <a:t>The Shanghai to Long Beach ocean lane is our weakest major lane right now at about 13% margin and the margin has been falling month over month because of a carrier rate increase that is coming.</a:t>
            </a:r>
            <a:endParaRPr lang="en-US" sz="1500" dirty="0"/>
          </a:p>
          <a:p>
            <a:pPr marL="342900" indent="-342900">
              <a:lnSpc>
                <a:spcPct val="110000"/>
              </a:lnSpc>
              <a:buSzPct val="100000"/>
              <a:buChar char="•"/>
            </a:pPr>
            <a:r>
              <a:rPr lang="en-US" sz="1500" dirty="0">
                <a:solidFill>
                  <a:srgbClr val="333333"/>
                </a:solidFill>
                <a:latin typeface="Arial" pitchFamily="34" charset="0"/>
                <a:ea typeface="Arial" pitchFamily="34" charset="-122"/>
                <a:cs typeface="Arial" pitchFamily="34" charset="-120"/>
              </a:rPr>
              <a:t>Revenue is fairly concentrated, the top three customers are about 43% of our revenue so if we lose any one of them it would really hurt and that is something we need to keep an eye on going forward.</a:t>
            </a:r>
            <a:endParaRPr lang="en-US" sz="1500" dirty="0"/>
          </a:p>
          <a:p>
            <a:pPr marL="342900" indent="-342900">
              <a:lnSpc>
                <a:spcPct val="110000"/>
              </a:lnSpc>
              <a:buSzPct val="100000"/>
              <a:buChar char="•"/>
            </a:pPr>
            <a:r>
              <a:rPr lang="en-US" sz="1500" dirty="0">
                <a:solidFill>
                  <a:srgbClr val="333333"/>
                </a:solidFill>
                <a:latin typeface="Arial" pitchFamily="34" charset="0"/>
                <a:ea typeface="Arial" pitchFamily="34" charset="-122"/>
                <a:cs typeface="Arial" pitchFamily="34" charset="-120"/>
              </a:rPr>
              <a:t>On the operations side most gateways are fine but Newark is a problem, more on that on the next slide.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Newark gateway performance</a:t>
            </a:r>
            <a:endParaRPr lang="en-US" sz="3000" dirty="0"/>
          </a:p>
        </p:txBody>
      </p:sp>
      <p:sp>
        <p:nvSpPr>
          <p:cNvPr id="3" name="Text 1"/>
          <p:cNvSpPr/>
          <p:nvPr/>
        </p:nvSpPr>
        <p:spPr>
          <a:xfrm>
            <a:off x="731520" y="1280160"/>
            <a:ext cx="10881360" cy="5120640"/>
          </a:xfrm>
          <a:prstGeom prst="rect">
            <a:avLst/>
          </a:prstGeom>
          <a:noFill/>
          <a:ln/>
        </p:spPr>
        <p:txBody>
          <a:bodyPr wrap="square" rtlCol="0" anchor="ctr"/>
          <a:lstStyle/>
          <a:p>
            <a:pPr marL="342900" indent="-342900">
              <a:lnSpc>
                <a:spcPct val="115000"/>
              </a:lnSpc>
              <a:buSzPct val="100000"/>
              <a:buChar char="•"/>
            </a:pPr>
            <a:r>
              <a:rPr lang="en-US" sz="1500" dirty="0">
                <a:solidFill>
                  <a:srgbClr val="333333"/>
                </a:solidFill>
                <a:latin typeface="Arial" pitchFamily="34" charset="0"/>
                <a:ea typeface="Arial" pitchFamily="34" charset="-122"/>
                <a:cs typeface="Arial" pitchFamily="34" charset="-120"/>
              </a:rPr>
              <a:t>On-time performance at Newark fell from about 95% in January to about 71% in May, every other gateway is holding in the 90 to 95% range so this is specific to Newark.</a:t>
            </a:r>
            <a:endParaRPr lang="en-US" sz="1500" dirty="0"/>
          </a:p>
          <a:p>
            <a:pPr marL="342900" indent="-342900">
              <a:lnSpc>
                <a:spcPct val="115000"/>
              </a:lnSpc>
              <a:buSzPct val="100000"/>
              <a:buChar char="•"/>
            </a:pPr>
            <a:r>
              <a:rPr lang="en-US" sz="1500" dirty="0">
                <a:solidFill>
                  <a:srgbClr val="333333"/>
                </a:solidFill>
                <a:latin typeface="Arial" pitchFamily="34" charset="0"/>
                <a:ea typeface="Arial" pitchFamily="34" charset="-122"/>
                <a:cs typeface="Arial" pitchFamily="34" charset="-120"/>
              </a:rPr>
              <a:t>The root cause is that we lost visibility into shipment milestones when we came off Meridian's transportation management system after the divestiture, so our team has been rekeying data by hand and missing delivery appointment windows.</a:t>
            </a:r>
            <a:endParaRPr lang="en-US" sz="1500" dirty="0"/>
          </a:p>
          <a:p>
            <a:pPr marL="342900" indent="-342900">
              <a:lnSpc>
                <a:spcPct val="115000"/>
              </a:lnSpc>
              <a:buSzPct val="100000"/>
              <a:buChar char="•"/>
            </a:pPr>
            <a:r>
              <a:rPr lang="en-US" sz="1500" dirty="0">
                <a:solidFill>
                  <a:srgbClr val="333333"/>
                </a:solidFill>
                <a:latin typeface="Arial" pitchFamily="34" charset="0"/>
                <a:ea typeface="Arial" pitchFamily="34" charset="-122"/>
                <a:cs typeface="Arial" pitchFamily="34" charset="-120"/>
              </a:rPr>
              <a:t>This is now a customer facing problem because Continental Auto Parts and Nordic Furnishings both move through Newark and have noticed, and it came up in the Pacific Rim conversation too.</a:t>
            </a:r>
            <a:endParaRPr lang="en-US" sz="1500" dirty="0"/>
          </a:p>
          <a:p>
            <a:pPr marL="342900" indent="-342900">
              <a:lnSpc>
                <a:spcPct val="115000"/>
              </a:lnSpc>
              <a:buSzPct val="100000"/>
              <a:buChar char="•"/>
            </a:pPr>
            <a:r>
              <a:rPr lang="en-US" sz="1500" dirty="0">
                <a:solidFill>
                  <a:srgbClr val="333333"/>
                </a:solidFill>
                <a:latin typeface="Arial" pitchFamily="34" charset="0"/>
                <a:ea typeface="Arial" pitchFamily="34" charset="-122"/>
                <a:cs typeface="Arial" pitchFamily="34" charset="-120"/>
              </a:rPr>
              <a:t>Short term we are standing up a shared tracking board with automated appointment alerts this week, medium term we are choosing a new TMS vendor by the end of June, and the Meridian TMS under the transition agreement ends September 30 anyway.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Customers</a:t>
            </a:r>
            <a:endParaRPr lang="en-US" sz="3000" dirty="0"/>
          </a:p>
        </p:txBody>
      </p:sp>
      <p:sp>
        <p:nvSpPr>
          <p:cNvPr id="3" name="Text 1"/>
          <p:cNvSpPr/>
          <p:nvPr/>
        </p:nvSpPr>
        <p:spPr>
          <a:xfrm>
            <a:off x="731520" y="1280160"/>
            <a:ext cx="10881360" cy="5120640"/>
          </a:xfrm>
          <a:prstGeom prst="rect">
            <a:avLst/>
          </a:prstGeom>
          <a:noFill/>
          <a:ln/>
        </p:spPr>
        <p:txBody>
          <a:bodyPr wrap="square" rtlCol="0" anchor="ctr"/>
          <a:lstStyle/>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Sunrise Produce Co. – about 19% of revenue – healthy, high service expectations on perishables</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Pacific Rim Imports – about 12% of revenue – AT RISK, ocean bookings down ~60% since January, evaluating other forwarders</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Apex Electronics – about 11% of revenue – healthy, anchor on Hong Kong to Chicago air</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Meridian Pharma – about 10% of revenue – watch, compliance sensitive</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Continental Auto Parts – about 10% of revenue – watch, $340K invoice is 70 days past due</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Several smaller accounts make up the rest</a:t>
            </a:r>
            <a:endParaRPr lang="en-US" sz="1600" dirty="0"/>
          </a:p>
          <a:p>
            <a:pPr marL="342900" indent="-342900">
              <a:lnSpc>
                <a:spcPct val="115000"/>
              </a:lnSpc>
              <a:buSzPct val="100000"/>
              <a:buChar char="•"/>
            </a:pPr>
            <a:r>
              <a:rPr lang="en-US" sz="1600" i="1" dirty="0">
                <a:solidFill>
                  <a:srgbClr val="AAAAAA"/>
                </a:solidFill>
                <a:latin typeface="Arial" pitchFamily="34" charset="0"/>
                <a:ea typeface="Arial" pitchFamily="34" charset="-122"/>
                <a:cs typeface="Arial" pitchFamily="34" charset="-120"/>
              </a:rPr>
              <a:t>[TODO: maybe turn this into a chart so it is easier to read]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Transition services – exit dates</a:t>
            </a:r>
            <a:endParaRPr lang="en-US" sz="3000" dirty="0"/>
          </a:p>
        </p:txBody>
      </p:sp>
      <p:sp>
        <p:nvSpPr>
          <p:cNvPr id="3" name="Text 1"/>
          <p:cNvSpPr/>
          <p:nvPr/>
        </p:nvSpPr>
        <p:spPr>
          <a:xfrm>
            <a:off x="731520" y="1280160"/>
            <a:ext cx="10881360" cy="5120640"/>
          </a:xfrm>
          <a:prstGeom prst="rect">
            <a:avLst/>
          </a:prstGeom>
          <a:noFill/>
          <a:ln/>
        </p:spPr>
        <p:txBody>
          <a:bodyPr wrap="square" rtlCol="0" anchor="ctr"/>
          <a:lstStyle/>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Email and Microsoft 365 – done, moved to our own tenant on June 1</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Transportation management system (TMS) – exit by September 30, 2026</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Customs compliance systems – exit by October 31, 2026</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Payroll processing – exit by November 30, 2026</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HR and benefits administration – exit by November 30, 2026</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General ledger and financial systems – exit by December 31, 2026</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IT infrastructure and network – exit by February 28, 2027</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Top risks</a:t>
            </a:r>
            <a:endParaRPr lang="en-US" sz="3000" dirty="0"/>
          </a:p>
        </p:txBody>
      </p:sp>
      <p:sp>
        <p:nvSpPr>
          <p:cNvPr id="3" name="Text 1"/>
          <p:cNvSpPr/>
          <p:nvPr/>
        </p:nvSpPr>
        <p:spPr>
          <a:xfrm>
            <a:off x="731520" y="1280160"/>
            <a:ext cx="10881360" cy="5120640"/>
          </a:xfrm>
          <a:prstGeom prst="rect">
            <a:avLst/>
          </a:prstGeom>
          <a:noFill/>
          <a:ln/>
        </p:spPr>
        <p:txBody>
          <a:bodyPr wrap="square" rtlCol="0" anchor="ctr"/>
          <a:lstStyle/>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Newark on-time decline – operational – fixing with alerts now and a new TMS by end of June</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Pacific Rim might leave – commercial – holding pricing through Q3 and meeting them this week</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Shanghai to Long Beach margin getting squeezed by the carrier rate increase – financial – shifting some volume and asking for a rate review</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Continental Auto Parts past due $340K – cash – collections call this week</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Customs broker license still pending with CBP – compliance – escalating and lining up a backup broker</a:t>
            </a:r>
            <a:endParaRPr lang="en-US" sz="1600" dirty="0"/>
          </a:p>
          <a:p>
            <a:pPr marL="342900" indent="-342900">
              <a:lnSpc>
                <a:spcPct val="115000"/>
              </a:lnSpc>
              <a:buSzPct val="100000"/>
              <a:buChar char="•"/>
            </a:pPr>
            <a:r>
              <a:rPr lang="en-US" sz="1600" dirty="0">
                <a:solidFill>
                  <a:srgbClr val="333333"/>
                </a:solidFill>
                <a:latin typeface="Arial" pitchFamily="34" charset="0"/>
                <a:ea typeface="Arial" pitchFamily="34" charset="-122"/>
                <a:cs typeface="Arial" pitchFamily="34" charset="-120"/>
              </a:rPr>
              <a:t>Back office is understaffed in Finance, IT and HR – capability – hiring and using some contractors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3000" b="1" dirty="0">
                <a:solidFill>
                  <a:srgbClr val="1F3864"/>
                </a:solidFill>
                <a:latin typeface="Arial" pitchFamily="34" charset="0"/>
                <a:ea typeface="Arial" pitchFamily="34" charset="-122"/>
                <a:cs typeface="Arial" pitchFamily="34" charset="-120"/>
              </a:rPr>
              <a:t>Next steps</a:t>
            </a:r>
            <a:endParaRPr lang="en-US" sz="3000" dirty="0"/>
          </a:p>
        </p:txBody>
      </p:sp>
      <p:sp>
        <p:nvSpPr>
          <p:cNvPr id="3" name="Text 1"/>
          <p:cNvSpPr/>
          <p:nvPr/>
        </p:nvSpPr>
        <p:spPr>
          <a:xfrm>
            <a:off x="731520" y="1280160"/>
            <a:ext cx="10881360" cy="4572000"/>
          </a:xfrm>
          <a:prstGeom prst="rect">
            <a:avLst/>
          </a:prstGeom>
          <a:noFill/>
          <a:ln/>
        </p:spPr>
        <p:txBody>
          <a:bodyPr wrap="square" rtlCol="0" anchor="ctr"/>
          <a:lstStyle/>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Next 30 days – get Newark alerts live, collections call with Continental, retention call with Pacific Rim, file the CBP expedite</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Next 60 days – pick the TMS vendor, sign the backup broker agreement, make key Finance and IT hires</a:t>
            </a:r>
            <a:endParaRPr lang="en-US" sz="1600" dirty="0"/>
          </a:p>
          <a:p>
            <a:pPr marL="342900" indent="-342900">
              <a:lnSpc>
                <a:spcPct val="120000"/>
              </a:lnSpc>
              <a:buSzPct val="100000"/>
              <a:buChar char="•"/>
            </a:pPr>
            <a:r>
              <a:rPr lang="en-US" sz="1600" dirty="0">
                <a:solidFill>
                  <a:srgbClr val="333333"/>
                </a:solidFill>
                <a:latin typeface="Arial" pitchFamily="34" charset="0"/>
                <a:ea typeface="Arial" pitchFamily="34" charset="-122"/>
                <a:cs typeface="Arial" pitchFamily="34" charset="-120"/>
              </a:rPr>
              <a:t>Next 90 days – start the TMS cutover, get Newark back above 90%, lock the payroll and HR migration plans</a:t>
            </a:r>
            <a:endParaRPr lang="en-US" sz="1600" dirty="0"/>
          </a:p>
          <a:p>
            <a:pPr marL="342900" indent="-342900">
              <a:lnSpc>
                <a:spcPct val="120000"/>
              </a:lnSpc>
              <a:buSzPct val="100000"/>
              <a:buChar char="•"/>
            </a:pPr>
            <a:r>
              <a:rPr lang="en-US" sz="1600" i="1" dirty="0">
                <a:solidFill>
                  <a:srgbClr val="AAAAAA"/>
                </a:solidFill>
                <a:latin typeface="Arial" pitchFamily="34" charset="0"/>
                <a:ea typeface="Arial" pitchFamily="34" charset="-122"/>
                <a:cs typeface="Arial" pitchFamily="34" charset="-120"/>
              </a:rPr>
              <a:t>[TODO: add the Q3 outlook and a closing slide]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2026-06-03T19:52:10Z</dcterms:created>
  <dcterms:modified xsi:type="dcterms:W3CDTF">2026-06-03T19:52:10Z</dcterms:modified>
</cp:coreProperties>
</file>
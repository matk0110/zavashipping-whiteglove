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BA658D-AB7A-9DE3-9B9A-01C6801D555C}" v="4" dt="2026-06-03T13:28:45.3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1" d="100"/>
          <a:sy n="131" d="100"/>
        </p:scale>
        <p:origin x="114" y="3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 Id="rId2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ry Williams" userId="873314f6-3c33-4903-9e96-b8f0cbce297d" providerId="ADAL" clId="{17B70301-0057-428B-81B5-91508AC32FAB}"/>
    <pc:docChg chg="undo custSel modSld">
      <pc:chgData name="Cory Williams" userId="873314f6-3c33-4903-9e96-b8f0cbce297d" providerId="ADAL" clId="{17B70301-0057-428B-81B5-91508AC32FAB}" dt="2026-05-29T16:36:30.211" v="63" actId="207"/>
      <pc:docMkLst>
        <pc:docMk/>
      </pc:docMkLst>
      <pc:sldChg chg="addSp delSp modSp mod">
        <pc:chgData name="Cory Williams" userId="873314f6-3c33-4903-9e96-b8f0cbce297d" providerId="ADAL" clId="{17B70301-0057-428B-81B5-91508AC32FAB}" dt="2026-05-29T16:36:30.211" v="63" actId="207"/>
        <pc:sldMkLst>
          <pc:docMk/>
          <pc:sldMk cId="0" sldId="256"/>
        </pc:sldMkLst>
        <pc:spChg chg="mod">
          <ac:chgData name="Cory Williams" userId="873314f6-3c33-4903-9e96-b8f0cbce297d" providerId="ADAL" clId="{17B70301-0057-428B-81B5-91508AC32FAB}" dt="2026-05-29T16:35:48.615" v="34" actId="6549"/>
          <ac:spMkLst>
            <pc:docMk/>
            <pc:sldMk cId="0" sldId="256"/>
            <ac:spMk id="12" creationId="{00000000-0000-0000-0000-000000000000}"/>
          </ac:spMkLst>
        </pc:spChg>
        <pc:picChg chg="add mod ord modCrop">
          <ac:chgData name="Cory Williams" userId="873314f6-3c33-4903-9e96-b8f0cbce297d" providerId="ADAL" clId="{17B70301-0057-428B-81B5-91508AC32FAB}" dt="2026-05-29T16:35:41.722" v="33" actId="732"/>
          <ac:picMkLst>
            <pc:docMk/>
            <pc:sldMk cId="0" sldId="256"/>
            <ac:picMk id="28" creationId="{713B6B67-9F18-825B-411D-605A5A40B06F}"/>
          </ac:picMkLst>
        </pc:picChg>
      </pc:sldChg>
    </pc:docChg>
  </pc:docChgLst>
  <pc:docChgLst>
    <pc:chgData name="Byron Castillo" userId="S::bycast@microsoft.com::255240ea-5d49-4a4e-b644-d262feca9748" providerId="AD" clId="Web-{D9BA658D-AB7A-9DE3-9B9A-01C6801D555C}"/>
    <pc:docChg chg="modSld">
      <pc:chgData name="Byron Castillo" userId="S::bycast@microsoft.com::255240ea-5d49-4a4e-b644-d262feca9748" providerId="AD" clId="Web-{D9BA658D-AB7A-9DE3-9B9A-01C6801D555C}" dt="2026-06-03T13:28:45.308" v="3"/>
      <pc:docMkLst>
        <pc:docMk/>
      </pc:docMkLst>
      <pc:sldChg chg="addSp delSp">
        <pc:chgData name="Byron Castillo" userId="S::bycast@microsoft.com::255240ea-5d49-4a4e-b644-d262feca9748" providerId="AD" clId="Web-{D9BA658D-AB7A-9DE3-9B9A-01C6801D555C}" dt="2026-06-03T13:28:45.308" v="3"/>
        <pc:sldMkLst>
          <pc:docMk/>
          <pc:sldMk cId="0" sldId="256"/>
        </pc:sldMkLst>
        <pc:spChg chg="add del">
          <ac:chgData name="Byron Castillo" userId="S::bycast@microsoft.com::255240ea-5d49-4a4e-b644-d262feca9748" providerId="AD" clId="Web-{D9BA658D-AB7A-9DE3-9B9A-01C6801D555C}" dt="2026-06-03T13:28:45.308" v="3"/>
          <ac:spMkLst>
            <pc:docMk/>
            <pc:sldMk cId="0" sldId="256"/>
            <ac:spMk id="22" creationId="{300AA34B-69BE-7919-5234-33AB17C7A23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1856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0854"/>
        </a:solidFill>
        <a:effectLst/>
      </p:bgPr>
    </p:bg>
    <p:spTree>
      <p:nvGrpSpPr>
        <p:cNvPr id="1" name=""/>
        <p:cNvGrpSpPr/>
        <p:nvPr/>
      </p:nvGrpSpPr>
      <p:grpSpPr>
        <a:xfrm>
          <a:off x="0" y="0"/>
          <a:ext cx="0" cy="0"/>
          <a:chOff x="0" y="0"/>
          <a:chExt cx="0" cy="0"/>
        </a:xfrm>
      </p:grpSpPr>
      <p:pic>
        <p:nvPicPr>
          <p:cNvPr id="28" name="Picture 27" descr="The image depicts a person wearing a hard hat and safety goggles, holding a test tube, while a futuristic car glides beside a wind turbine, surrounded by a dynamic, colorful, and energetic background.&#10;&#10;AI-generated content may be incorrect.">
            <a:extLst>
              <a:ext uri="{FF2B5EF4-FFF2-40B4-BE49-F238E27FC236}">
                <a16:creationId xmlns:a16="http://schemas.microsoft.com/office/drawing/2014/main" id="{713B6B67-9F18-825B-411D-605A5A40B06F}"/>
              </a:ext>
            </a:extLst>
          </p:cNvPr>
          <p:cNvPicPr>
            <a:picLocks noChangeAspect="1"/>
          </p:cNvPicPr>
          <p:nvPr/>
        </p:nvPicPr>
        <p:blipFill>
          <a:blip r:embed="rId3"/>
          <a:srcRect b="13351"/>
          <a:stretch>
            <a:fillRect/>
          </a:stretch>
        </p:blipFill>
        <p:spPr>
          <a:xfrm>
            <a:off x="320039" y="-1"/>
            <a:ext cx="11871959" cy="6858001"/>
          </a:xfrm>
          <a:prstGeom prst="rect">
            <a:avLst/>
          </a:prstGeom>
        </p:spPr>
      </p:pic>
      <p:sp>
        <p:nvSpPr>
          <p:cNvPr id="22" name="Rectangle 21">
            <a:extLst>
              <a:ext uri="{FF2B5EF4-FFF2-40B4-BE49-F238E27FC236}">
                <a16:creationId xmlns:a16="http://schemas.microsoft.com/office/drawing/2014/main" id="{300AA34B-69BE-7919-5234-33AB17C7A233}"/>
              </a:ext>
            </a:extLst>
          </p:cNvPr>
          <p:cNvSpPr/>
          <p:nvPr/>
        </p:nvSpPr>
        <p:spPr>
          <a:xfrm>
            <a:off x="320040" y="0"/>
            <a:ext cx="11871960" cy="6858000"/>
          </a:xfrm>
          <a:prstGeom prst="rect">
            <a:avLst/>
          </a:prstGeom>
          <a:gradFill flip="none" rotWithShape="1">
            <a:gsLst>
              <a:gs pos="0">
                <a:srgbClr val="002060">
                  <a:alpha val="50000"/>
                </a:srgbClr>
              </a:gs>
              <a:gs pos="100000">
                <a:srgbClr val="002060">
                  <a:alpha val="8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hape 0"/>
          <p:cNvSpPr/>
          <p:nvPr/>
        </p:nvSpPr>
        <p:spPr>
          <a:xfrm>
            <a:off x="0" y="0"/>
            <a:ext cx="320040" cy="6858000"/>
          </a:xfrm>
          <a:prstGeom prst="rect">
            <a:avLst/>
          </a:prstGeom>
          <a:solidFill>
            <a:srgbClr val="FF6600"/>
          </a:solidFill>
          <a:ln/>
        </p:spPr>
        <p:txBody>
          <a:bodyPr/>
          <a:lstStyle/>
          <a:p>
            <a:endParaRPr lang="en-US"/>
          </a:p>
        </p:txBody>
      </p:sp>
      <p:sp>
        <p:nvSpPr>
          <p:cNvPr id="3" name="Text 1"/>
          <p:cNvSpPr/>
          <p:nvPr/>
        </p:nvSpPr>
        <p:spPr>
          <a:xfrm>
            <a:off x="777240" y="502920"/>
            <a:ext cx="7315200" cy="365760"/>
          </a:xfrm>
          <a:prstGeom prst="rect">
            <a:avLst/>
          </a:prstGeom>
          <a:noFill/>
          <a:ln/>
        </p:spPr>
        <p:txBody>
          <a:bodyPr wrap="square" rtlCol="0" anchor="ctr"/>
          <a:lstStyle/>
          <a:p>
            <a:pPr marL="0" indent="0">
              <a:buNone/>
            </a:pPr>
            <a:r>
              <a:rPr lang="en-US" sz="1400" b="1" kern="0" spc="800" dirty="0">
                <a:solidFill>
                  <a:srgbClr val="FF6600"/>
                </a:solidFill>
                <a:latin typeface="Calibri" pitchFamily="34" charset="0"/>
                <a:ea typeface="Calibri" pitchFamily="34" charset="-122"/>
                <a:cs typeface="Calibri" pitchFamily="34" charset="-120"/>
              </a:rPr>
              <a:t>ZAVA SHIPPING</a:t>
            </a:r>
            <a:endParaRPr lang="en-US" sz="1400" dirty="0"/>
          </a:p>
        </p:txBody>
      </p:sp>
      <p:sp>
        <p:nvSpPr>
          <p:cNvPr id="4" name="Text 2"/>
          <p:cNvSpPr/>
          <p:nvPr/>
        </p:nvSpPr>
        <p:spPr>
          <a:xfrm>
            <a:off x="777240" y="960120"/>
            <a:ext cx="10058400" cy="77724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Microsoft 365 Copilot</a:t>
            </a:r>
            <a:endParaRPr lang="en-US" sz="4000" dirty="0"/>
          </a:p>
        </p:txBody>
      </p:sp>
      <p:sp>
        <p:nvSpPr>
          <p:cNvPr id="5" name="Text 3"/>
          <p:cNvSpPr/>
          <p:nvPr/>
        </p:nvSpPr>
        <p:spPr>
          <a:xfrm>
            <a:off x="777240" y="1691640"/>
            <a:ext cx="10058400" cy="1005840"/>
          </a:xfrm>
          <a:prstGeom prst="rect">
            <a:avLst/>
          </a:prstGeom>
          <a:noFill/>
          <a:ln/>
        </p:spPr>
        <p:txBody>
          <a:bodyPr wrap="square"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Executive Prompt Guide</a:t>
            </a:r>
            <a:endParaRPr lang="en-US" sz="5600" dirty="0"/>
          </a:p>
        </p:txBody>
      </p:sp>
      <p:sp>
        <p:nvSpPr>
          <p:cNvPr id="6" name="Text 4"/>
          <p:cNvSpPr/>
          <p:nvPr/>
        </p:nvSpPr>
        <p:spPr>
          <a:xfrm>
            <a:off x="777240" y="2788920"/>
            <a:ext cx="10515600" cy="457200"/>
          </a:xfrm>
          <a:prstGeom prst="rect">
            <a:avLst/>
          </a:prstGeom>
          <a:noFill/>
          <a:ln/>
        </p:spPr>
        <p:txBody>
          <a:bodyPr wrap="square" rtlCol="0" anchor="ctr"/>
          <a:lstStyle/>
          <a:p>
            <a:pPr marL="0" indent="0">
              <a:buNone/>
            </a:pPr>
            <a:r>
              <a:rPr lang="en-US" sz="2000" i="1" dirty="0">
                <a:solidFill>
                  <a:srgbClr val="FF6600"/>
                </a:solidFill>
                <a:latin typeface="Calibri" pitchFamily="34" charset="0"/>
                <a:ea typeface="Calibri" pitchFamily="34" charset="-122"/>
                <a:cs typeface="Calibri" pitchFamily="34" charset="-120"/>
              </a:rPr>
              <a:t>Role-by-role prompts engineered to keep freight moving</a:t>
            </a:r>
            <a:endParaRPr lang="en-US" sz="2000" dirty="0"/>
          </a:p>
        </p:txBody>
      </p:sp>
      <p:sp>
        <p:nvSpPr>
          <p:cNvPr id="7" name="Shape 5"/>
          <p:cNvSpPr/>
          <p:nvPr/>
        </p:nvSpPr>
        <p:spPr>
          <a:xfrm>
            <a:off x="777240" y="3429000"/>
            <a:ext cx="1828800" cy="45720"/>
          </a:xfrm>
          <a:prstGeom prst="rect">
            <a:avLst/>
          </a:prstGeom>
          <a:solidFill>
            <a:srgbClr val="C8102E"/>
          </a:solidFill>
          <a:ln/>
        </p:spPr>
        <p:txBody>
          <a:bodyPr/>
          <a:lstStyle/>
          <a:p>
            <a:endParaRPr lang="en-US"/>
          </a:p>
        </p:txBody>
      </p:sp>
      <p:sp>
        <p:nvSpPr>
          <p:cNvPr id="8" name="Text 6"/>
          <p:cNvSpPr/>
          <p:nvPr/>
        </p:nvSpPr>
        <p:spPr>
          <a:xfrm>
            <a:off x="777240" y="3657600"/>
            <a:ext cx="10515600" cy="365760"/>
          </a:xfrm>
          <a:prstGeom prst="rect">
            <a:avLst/>
          </a:prstGeom>
          <a:noFill/>
          <a:ln/>
        </p:spPr>
        <p:txBody>
          <a:bodyPr wrap="square" rtlCol="0" anchor="ctr"/>
          <a:lstStyle/>
          <a:p>
            <a:pPr marL="0" indent="0">
              <a:buNone/>
            </a:pPr>
            <a:r>
              <a:rPr lang="en-US" sz="1600" b="1" kern="0" spc="200" dirty="0">
                <a:solidFill>
                  <a:srgbClr val="FFFFFF"/>
                </a:solidFill>
                <a:latin typeface="Calibri" pitchFamily="34" charset="0"/>
                <a:ea typeface="Calibri" pitchFamily="34" charset="-122"/>
                <a:cs typeface="Calibri" pitchFamily="34" charset="-120"/>
              </a:rPr>
              <a:t>How Zava Shipping leaders work smarter with AI</a:t>
            </a:r>
            <a:endParaRPr lang="en-US" sz="1600" dirty="0"/>
          </a:p>
        </p:txBody>
      </p:sp>
      <p:sp>
        <p:nvSpPr>
          <p:cNvPr id="9" name="Text 7"/>
          <p:cNvSpPr/>
          <p:nvPr/>
        </p:nvSpPr>
        <p:spPr>
          <a:xfrm>
            <a:off x="777240" y="4114800"/>
            <a:ext cx="640080" cy="822960"/>
          </a:xfrm>
          <a:prstGeom prst="rect">
            <a:avLst/>
          </a:prstGeom>
          <a:noFill/>
          <a:ln/>
        </p:spPr>
        <p:txBody>
          <a:bodyPr wrap="square" rtlCol="0" anchor="ctr"/>
          <a:lstStyle/>
          <a:p>
            <a:pPr marL="0" indent="0">
              <a:buNone/>
            </a:pPr>
            <a:r>
              <a:rPr lang="en-US" sz="2800" b="1" dirty="0">
                <a:solidFill>
                  <a:srgbClr val="C8102E"/>
                </a:solidFill>
                <a:latin typeface="Calibri" pitchFamily="34" charset="0"/>
                <a:ea typeface="Calibri" pitchFamily="34" charset="-122"/>
                <a:cs typeface="Calibri" pitchFamily="34" charset="-120"/>
              </a:rPr>
              <a:t>01</a:t>
            </a:r>
            <a:endParaRPr lang="en-US" sz="2800" dirty="0"/>
          </a:p>
        </p:txBody>
      </p:sp>
      <p:sp>
        <p:nvSpPr>
          <p:cNvPr id="10" name="Text 8"/>
          <p:cNvSpPr/>
          <p:nvPr/>
        </p:nvSpPr>
        <p:spPr>
          <a:xfrm>
            <a:off x="1417320" y="4114800"/>
            <a:ext cx="4709160" cy="8229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Accelerate strategic operating decisions</a:t>
            </a:r>
            <a:endParaRPr lang="en-US" sz="1400" dirty="0"/>
          </a:p>
        </p:txBody>
      </p:sp>
      <p:sp>
        <p:nvSpPr>
          <p:cNvPr id="11" name="Text 9"/>
          <p:cNvSpPr/>
          <p:nvPr/>
        </p:nvSpPr>
        <p:spPr>
          <a:xfrm>
            <a:off x="6263640" y="4114800"/>
            <a:ext cx="640080" cy="822960"/>
          </a:xfrm>
          <a:prstGeom prst="rect">
            <a:avLst/>
          </a:prstGeom>
          <a:noFill/>
          <a:ln/>
        </p:spPr>
        <p:txBody>
          <a:bodyPr wrap="square" rtlCol="0" anchor="ctr"/>
          <a:lstStyle/>
          <a:p>
            <a:pPr marL="0" indent="0">
              <a:buNone/>
            </a:pPr>
            <a:r>
              <a:rPr lang="en-US" sz="2800" b="1" dirty="0">
                <a:solidFill>
                  <a:srgbClr val="C8102E"/>
                </a:solidFill>
                <a:latin typeface="Calibri" pitchFamily="34" charset="0"/>
                <a:ea typeface="Calibri" pitchFamily="34" charset="-122"/>
                <a:cs typeface="Calibri" pitchFamily="34" charset="-120"/>
              </a:rPr>
              <a:t>02</a:t>
            </a:r>
            <a:endParaRPr lang="en-US" sz="2800" dirty="0"/>
          </a:p>
        </p:txBody>
      </p:sp>
      <p:sp>
        <p:nvSpPr>
          <p:cNvPr id="12" name="Text 10"/>
          <p:cNvSpPr/>
          <p:nvPr/>
        </p:nvSpPr>
        <p:spPr>
          <a:xfrm>
            <a:off x="6903720" y="4114800"/>
            <a:ext cx="4709160" cy="8229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Prepare faster for reviews and board moments</a:t>
            </a:r>
            <a:endParaRPr lang="en-US" sz="1400" dirty="0"/>
          </a:p>
        </p:txBody>
      </p:sp>
      <p:sp>
        <p:nvSpPr>
          <p:cNvPr id="13" name="Text 11"/>
          <p:cNvSpPr/>
          <p:nvPr/>
        </p:nvSpPr>
        <p:spPr>
          <a:xfrm>
            <a:off x="777240" y="5029200"/>
            <a:ext cx="640080" cy="822960"/>
          </a:xfrm>
          <a:prstGeom prst="rect">
            <a:avLst/>
          </a:prstGeom>
          <a:noFill/>
          <a:ln/>
        </p:spPr>
        <p:txBody>
          <a:bodyPr wrap="square" rtlCol="0" anchor="ctr"/>
          <a:lstStyle/>
          <a:p>
            <a:pPr marL="0" indent="0">
              <a:buNone/>
            </a:pPr>
            <a:r>
              <a:rPr lang="en-US" sz="2800" b="1" dirty="0">
                <a:solidFill>
                  <a:srgbClr val="C8102E"/>
                </a:solidFill>
                <a:latin typeface="Calibri" pitchFamily="34" charset="0"/>
                <a:ea typeface="Calibri" pitchFamily="34" charset="-122"/>
                <a:cs typeface="Calibri" pitchFamily="34" charset="-120"/>
              </a:rPr>
              <a:t>03</a:t>
            </a:r>
            <a:endParaRPr lang="en-US" sz="2800" dirty="0"/>
          </a:p>
        </p:txBody>
      </p:sp>
      <p:sp>
        <p:nvSpPr>
          <p:cNvPr id="14" name="Text 12"/>
          <p:cNvSpPr/>
          <p:nvPr/>
        </p:nvSpPr>
        <p:spPr>
          <a:xfrm>
            <a:off x="1417320" y="5029200"/>
            <a:ext cx="4709160" cy="8229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Drive efficiency across every function and service center</a:t>
            </a:r>
            <a:endParaRPr lang="en-US" sz="1400" dirty="0"/>
          </a:p>
        </p:txBody>
      </p:sp>
      <p:sp>
        <p:nvSpPr>
          <p:cNvPr id="15" name="Text 13"/>
          <p:cNvSpPr/>
          <p:nvPr/>
        </p:nvSpPr>
        <p:spPr>
          <a:xfrm>
            <a:off x="6263640" y="5029200"/>
            <a:ext cx="640080" cy="822960"/>
          </a:xfrm>
          <a:prstGeom prst="rect">
            <a:avLst/>
          </a:prstGeom>
          <a:noFill/>
          <a:ln/>
        </p:spPr>
        <p:txBody>
          <a:bodyPr wrap="square" rtlCol="0" anchor="ctr"/>
          <a:lstStyle/>
          <a:p>
            <a:pPr marL="0" indent="0">
              <a:buNone/>
            </a:pPr>
            <a:r>
              <a:rPr lang="en-US" sz="2800" b="1" dirty="0">
                <a:solidFill>
                  <a:srgbClr val="C8102E"/>
                </a:solidFill>
                <a:latin typeface="Calibri" pitchFamily="34" charset="0"/>
                <a:ea typeface="Calibri" pitchFamily="34" charset="-122"/>
                <a:cs typeface="Calibri" pitchFamily="34" charset="-120"/>
              </a:rPr>
              <a:t>04</a:t>
            </a:r>
            <a:endParaRPr lang="en-US" sz="2800" dirty="0"/>
          </a:p>
        </p:txBody>
      </p:sp>
      <p:sp>
        <p:nvSpPr>
          <p:cNvPr id="16" name="Text 14"/>
          <p:cNvSpPr/>
          <p:nvPr/>
        </p:nvSpPr>
        <p:spPr>
          <a:xfrm>
            <a:off x="6903720" y="5029200"/>
            <a:ext cx="4709160" cy="8229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Unlock Copilot's full capability from day one</a:t>
            </a:r>
            <a:endParaRPr lang="en-US" sz="1400" dirty="0"/>
          </a:p>
        </p:txBody>
      </p:sp>
      <p:sp>
        <p:nvSpPr>
          <p:cNvPr id="17" name="Text 15"/>
          <p:cNvSpPr/>
          <p:nvPr/>
        </p:nvSpPr>
        <p:spPr>
          <a:xfrm>
            <a:off x="777240" y="6355080"/>
            <a:ext cx="10515600" cy="320040"/>
          </a:xfrm>
          <a:prstGeom prst="rect">
            <a:avLst/>
          </a:prstGeom>
          <a:noFill/>
          <a:ln/>
        </p:spPr>
        <p:txBody>
          <a:bodyPr wrap="square" rtlCol="0" anchor="ctr"/>
          <a:lstStyle/>
          <a:p>
            <a:pPr marL="0" indent="0">
              <a:buNone/>
            </a:pPr>
            <a:r>
              <a:rPr lang="en-US" sz="1000" i="1" kern="0" spc="200" dirty="0">
                <a:solidFill>
                  <a:srgbClr val="FF6600"/>
                </a:solidFill>
                <a:latin typeface="Calibri" pitchFamily="34" charset="0"/>
                <a:ea typeface="Calibri" pitchFamily="34" charset="-122"/>
                <a:cs typeface="Calibri" pitchFamily="34" charset="-120"/>
              </a:rPr>
              <a:t>Delivering Excellence   |   2026   |   Confidential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640080"/>
          </a:xfrm>
          <a:prstGeom prst="rect">
            <a:avLst/>
          </a:prstGeom>
          <a:noFill/>
          <a:ln/>
        </p:spPr>
        <p:txBody>
          <a:bodyPr wrap="square" rtlCol="0" anchor="ctr"/>
          <a:lstStyle/>
          <a:p>
            <a:pPr marL="0" indent="0">
              <a:buNone/>
            </a:pPr>
            <a:r>
              <a:rPr lang="en-US" sz="3200" b="1" dirty="0">
                <a:solidFill>
                  <a:srgbClr val="2E0854"/>
                </a:solidFill>
                <a:latin typeface="Calibri" pitchFamily="34" charset="0"/>
                <a:ea typeface="Calibri" pitchFamily="34" charset="-122"/>
                <a:cs typeface="Calibri" pitchFamily="34" charset="-120"/>
              </a:rPr>
              <a:t>How to Use This Guide</a:t>
            </a:r>
            <a:endParaRPr lang="en-US" sz="3200" dirty="0"/>
          </a:p>
        </p:txBody>
      </p:sp>
      <p:sp>
        <p:nvSpPr>
          <p:cNvPr id="3" name="Text 1"/>
          <p:cNvSpPr/>
          <p:nvPr/>
        </p:nvSpPr>
        <p:spPr>
          <a:xfrm>
            <a:off x="457200" y="960120"/>
            <a:ext cx="11247120" cy="365760"/>
          </a:xfrm>
          <a:prstGeom prst="rect">
            <a:avLst/>
          </a:prstGeom>
          <a:noFill/>
          <a:ln/>
        </p:spPr>
        <p:txBody>
          <a:bodyPr wrap="square" rtlCol="0" anchor="ctr"/>
          <a:lstStyle/>
          <a:p>
            <a:pPr marL="0" indent="0">
              <a:buNone/>
            </a:pPr>
            <a:r>
              <a:rPr lang="en-US" sz="1400" dirty="0">
                <a:solidFill>
                  <a:srgbClr val="6B7280"/>
                </a:solidFill>
                <a:latin typeface="Calibri" pitchFamily="34" charset="0"/>
                <a:ea typeface="Calibri" pitchFamily="34" charset="-122"/>
                <a:cs typeface="Calibri" pitchFamily="34" charset="-120"/>
              </a:rPr>
              <a:t>Built for Zava Shipping leaders  |  Microsoft 365 Copilot Chat</a:t>
            </a:r>
            <a:endParaRPr lang="en-US" sz="1400" dirty="0"/>
          </a:p>
        </p:txBody>
      </p:sp>
      <p:sp>
        <p:nvSpPr>
          <p:cNvPr id="4" name="Shape 2"/>
          <p:cNvSpPr/>
          <p:nvPr/>
        </p:nvSpPr>
        <p:spPr>
          <a:xfrm>
            <a:off x="457200" y="1371600"/>
            <a:ext cx="1371600" cy="45720"/>
          </a:xfrm>
          <a:prstGeom prst="rect">
            <a:avLst/>
          </a:prstGeom>
          <a:solidFill>
            <a:srgbClr val="C8102E"/>
          </a:solidFill>
          <a:ln/>
        </p:spPr>
        <p:txBody>
          <a:bodyPr/>
          <a:lstStyle/>
          <a:p>
            <a:endParaRPr lang="en-US"/>
          </a:p>
        </p:txBody>
      </p:sp>
      <p:sp>
        <p:nvSpPr>
          <p:cNvPr id="5" name="Shape 3"/>
          <p:cNvSpPr/>
          <p:nvPr/>
        </p:nvSpPr>
        <p:spPr>
          <a:xfrm>
            <a:off x="457200" y="1828800"/>
            <a:ext cx="2788920" cy="3017520"/>
          </a:xfrm>
          <a:prstGeom prst="rect">
            <a:avLst/>
          </a:prstGeom>
          <a:solidFill>
            <a:srgbClr val="FFFFFF"/>
          </a:solidFill>
          <a:ln w="12700">
            <a:solidFill>
              <a:srgbClr val="D7DEE8"/>
            </a:solidFill>
            <a:prstDash val="solid"/>
          </a:ln>
        </p:spPr>
        <p:txBody>
          <a:bodyPr/>
          <a:lstStyle/>
          <a:p>
            <a:endParaRPr lang="en-US"/>
          </a:p>
        </p:txBody>
      </p:sp>
      <p:sp>
        <p:nvSpPr>
          <p:cNvPr id="6" name="Shape 4"/>
          <p:cNvSpPr/>
          <p:nvPr/>
        </p:nvSpPr>
        <p:spPr>
          <a:xfrm>
            <a:off x="822960" y="2194560"/>
            <a:ext cx="777240" cy="777240"/>
          </a:xfrm>
          <a:prstGeom prst="ellipse">
            <a:avLst/>
          </a:prstGeom>
          <a:solidFill>
            <a:srgbClr val="4D148C"/>
          </a:solidFill>
          <a:ln w="12700">
            <a:solidFill>
              <a:srgbClr val="4D148C"/>
            </a:solidFill>
            <a:prstDash val="solid"/>
          </a:ln>
        </p:spPr>
        <p:txBody>
          <a:bodyPr/>
          <a:lstStyle/>
          <a:p>
            <a:endParaRPr lang="en-US"/>
          </a:p>
        </p:txBody>
      </p:sp>
      <p:sp>
        <p:nvSpPr>
          <p:cNvPr id="7" name="Text 5"/>
          <p:cNvSpPr/>
          <p:nvPr/>
        </p:nvSpPr>
        <p:spPr>
          <a:xfrm>
            <a:off x="822960" y="2194560"/>
            <a:ext cx="77724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8" name="Text 6"/>
          <p:cNvSpPr/>
          <p:nvPr/>
        </p:nvSpPr>
        <p:spPr>
          <a:xfrm>
            <a:off x="822960" y="3154680"/>
            <a:ext cx="2057400" cy="457200"/>
          </a:xfrm>
          <a:prstGeom prst="rect">
            <a:avLst/>
          </a:prstGeom>
          <a:noFill/>
          <a:ln/>
        </p:spPr>
        <p:txBody>
          <a:bodyPr wrap="square" rtlCol="0" anchor="ctr"/>
          <a:lstStyle/>
          <a:p>
            <a:pPr marL="0" indent="0">
              <a:buNone/>
            </a:pPr>
            <a:r>
              <a:rPr lang="en-US" sz="1800" b="1" dirty="0">
                <a:solidFill>
                  <a:srgbClr val="2E0854"/>
                </a:solidFill>
                <a:latin typeface="Calibri" pitchFamily="34" charset="0"/>
                <a:ea typeface="Calibri" pitchFamily="34" charset="-122"/>
                <a:cs typeface="Calibri" pitchFamily="34" charset="-120"/>
              </a:rPr>
              <a:t>Find Your Role</a:t>
            </a:r>
            <a:endParaRPr lang="en-US" sz="1800" dirty="0"/>
          </a:p>
        </p:txBody>
      </p:sp>
      <p:sp>
        <p:nvSpPr>
          <p:cNvPr id="9" name="Text 7"/>
          <p:cNvSpPr/>
          <p:nvPr/>
        </p:nvSpPr>
        <p:spPr>
          <a:xfrm>
            <a:off x="822960" y="3657600"/>
            <a:ext cx="2057400" cy="1097280"/>
          </a:xfrm>
          <a:prstGeom prst="rect">
            <a:avLst/>
          </a:prstGeom>
          <a:noFill/>
          <a:ln/>
        </p:spPr>
        <p:txBody>
          <a:bodyPr wrap="square" rtlCol="0" anchor="ctr"/>
          <a:lstStyle/>
          <a:p>
            <a:pPr marL="0" indent="0">
              <a:buNone/>
            </a:pPr>
            <a:r>
              <a:rPr lang="en-US" sz="1250" dirty="0">
                <a:solidFill>
                  <a:srgbClr val="3D4452"/>
                </a:solidFill>
                <a:latin typeface="Calibri" pitchFamily="34" charset="0"/>
                <a:ea typeface="Calibri" pitchFamily="34" charset="-122"/>
                <a:cs typeface="Calibri" pitchFamily="34" charset="-120"/>
              </a:rPr>
              <a:t>Navigate to your function's section.</a:t>
            </a:r>
            <a:endParaRPr lang="en-US" sz="1250" dirty="0"/>
          </a:p>
          <a:p>
            <a:pPr marL="0" indent="0">
              <a:buNone/>
            </a:pPr>
            <a:r>
              <a:rPr lang="en-US" sz="1250" dirty="0">
                <a:solidFill>
                  <a:srgbClr val="3D4452"/>
                </a:solidFill>
                <a:latin typeface="Calibri" pitchFamily="34" charset="0"/>
                <a:ea typeface="Calibri" pitchFamily="34" charset="-122"/>
                <a:cs typeface="Calibri" pitchFamily="34" charset="-120"/>
              </a:rPr>
              <a:t>Each role has 4 ready-to-use prompts.</a:t>
            </a:r>
            <a:endParaRPr lang="en-US" sz="1250" dirty="0"/>
          </a:p>
        </p:txBody>
      </p:sp>
      <p:sp>
        <p:nvSpPr>
          <p:cNvPr id="10" name="Shape 8"/>
          <p:cNvSpPr/>
          <p:nvPr/>
        </p:nvSpPr>
        <p:spPr>
          <a:xfrm>
            <a:off x="3383280" y="1828800"/>
            <a:ext cx="2788920" cy="3017520"/>
          </a:xfrm>
          <a:prstGeom prst="rect">
            <a:avLst/>
          </a:prstGeom>
          <a:solidFill>
            <a:srgbClr val="FFFFFF"/>
          </a:solidFill>
          <a:ln w="12700">
            <a:solidFill>
              <a:srgbClr val="D7DEE8"/>
            </a:solidFill>
            <a:prstDash val="solid"/>
          </a:ln>
        </p:spPr>
        <p:txBody>
          <a:bodyPr/>
          <a:lstStyle/>
          <a:p>
            <a:endParaRPr lang="en-US"/>
          </a:p>
        </p:txBody>
      </p:sp>
      <p:sp>
        <p:nvSpPr>
          <p:cNvPr id="11" name="Shape 9"/>
          <p:cNvSpPr/>
          <p:nvPr/>
        </p:nvSpPr>
        <p:spPr>
          <a:xfrm>
            <a:off x="3749040" y="2194560"/>
            <a:ext cx="777240" cy="777240"/>
          </a:xfrm>
          <a:prstGeom prst="ellipse">
            <a:avLst/>
          </a:prstGeom>
          <a:solidFill>
            <a:srgbClr val="4D148C"/>
          </a:solidFill>
          <a:ln w="12700">
            <a:solidFill>
              <a:srgbClr val="4D148C"/>
            </a:solidFill>
            <a:prstDash val="solid"/>
          </a:ln>
        </p:spPr>
        <p:txBody>
          <a:bodyPr/>
          <a:lstStyle/>
          <a:p>
            <a:endParaRPr lang="en-US"/>
          </a:p>
        </p:txBody>
      </p:sp>
      <p:sp>
        <p:nvSpPr>
          <p:cNvPr id="12" name="Text 10"/>
          <p:cNvSpPr/>
          <p:nvPr/>
        </p:nvSpPr>
        <p:spPr>
          <a:xfrm>
            <a:off x="3749040" y="2194560"/>
            <a:ext cx="77724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3" name="Text 11"/>
          <p:cNvSpPr/>
          <p:nvPr/>
        </p:nvSpPr>
        <p:spPr>
          <a:xfrm>
            <a:off x="3749040" y="3154680"/>
            <a:ext cx="2057400" cy="457200"/>
          </a:xfrm>
          <a:prstGeom prst="rect">
            <a:avLst/>
          </a:prstGeom>
          <a:noFill/>
          <a:ln/>
        </p:spPr>
        <p:txBody>
          <a:bodyPr wrap="square" rtlCol="0" anchor="ctr"/>
          <a:lstStyle/>
          <a:p>
            <a:pPr marL="0" indent="0">
              <a:buNone/>
            </a:pPr>
            <a:r>
              <a:rPr lang="en-US" sz="1800" b="1" dirty="0">
                <a:solidFill>
                  <a:srgbClr val="2E0854"/>
                </a:solidFill>
                <a:latin typeface="Calibri" pitchFamily="34" charset="0"/>
                <a:ea typeface="Calibri" pitchFamily="34" charset="-122"/>
                <a:cs typeface="Calibri" pitchFamily="34" charset="-120"/>
              </a:rPr>
              <a:t>Copy the Prompt</a:t>
            </a:r>
            <a:endParaRPr lang="en-US" sz="1800" dirty="0"/>
          </a:p>
        </p:txBody>
      </p:sp>
      <p:sp>
        <p:nvSpPr>
          <p:cNvPr id="14" name="Text 12"/>
          <p:cNvSpPr/>
          <p:nvPr/>
        </p:nvSpPr>
        <p:spPr>
          <a:xfrm>
            <a:off x="3749040" y="3657600"/>
            <a:ext cx="2057400" cy="1097280"/>
          </a:xfrm>
          <a:prstGeom prst="rect">
            <a:avLst/>
          </a:prstGeom>
          <a:noFill/>
          <a:ln/>
        </p:spPr>
        <p:txBody>
          <a:bodyPr wrap="square" rtlCol="0" anchor="ctr"/>
          <a:lstStyle/>
          <a:p>
            <a:pPr marL="0" indent="0">
              <a:buNone/>
            </a:pPr>
            <a:r>
              <a:rPr lang="en-US" sz="1250" dirty="0">
                <a:solidFill>
                  <a:srgbClr val="3D4452"/>
                </a:solidFill>
                <a:latin typeface="Calibri" pitchFamily="34" charset="0"/>
                <a:ea typeface="Calibri" pitchFamily="34" charset="-122"/>
                <a:cs typeface="Calibri" pitchFamily="34" charset="-120"/>
              </a:rPr>
              <a:t>Paste it into Copilot Chat.</a:t>
            </a:r>
            <a:endParaRPr lang="en-US" sz="1250" dirty="0"/>
          </a:p>
          <a:p>
            <a:pPr marL="0" indent="0">
              <a:buNone/>
            </a:pPr>
            <a:r>
              <a:rPr lang="en-US" sz="1250" dirty="0">
                <a:solidFill>
                  <a:srgbClr val="3D4452"/>
                </a:solidFill>
                <a:latin typeface="Calibri" pitchFamily="34" charset="0"/>
                <a:ea typeface="Calibri" pitchFamily="34" charset="-122"/>
                <a:cs typeface="Calibri" pitchFamily="34" charset="-120"/>
              </a:rPr>
              <a:t>Replace [bracketed] items with real data.</a:t>
            </a:r>
            <a:endParaRPr lang="en-US" sz="1250" dirty="0"/>
          </a:p>
        </p:txBody>
      </p:sp>
      <p:sp>
        <p:nvSpPr>
          <p:cNvPr id="15" name="Shape 13"/>
          <p:cNvSpPr/>
          <p:nvPr/>
        </p:nvSpPr>
        <p:spPr>
          <a:xfrm>
            <a:off x="6309360" y="1828800"/>
            <a:ext cx="2788920" cy="3017520"/>
          </a:xfrm>
          <a:prstGeom prst="rect">
            <a:avLst/>
          </a:prstGeom>
          <a:solidFill>
            <a:srgbClr val="FFFFFF"/>
          </a:solidFill>
          <a:ln w="12700">
            <a:solidFill>
              <a:srgbClr val="D7DEE8"/>
            </a:solidFill>
            <a:prstDash val="solid"/>
          </a:ln>
        </p:spPr>
        <p:txBody>
          <a:bodyPr/>
          <a:lstStyle/>
          <a:p>
            <a:endParaRPr lang="en-US"/>
          </a:p>
        </p:txBody>
      </p:sp>
      <p:sp>
        <p:nvSpPr>
          <p:cNvPr id="16" name="Shape 14"/>
          <p:cNvSpPr/>
          <p:nvPr/>
        </p:nvSpPr>
        <p:spPr>
          <a:xfrm>
            <a:off x="6675120" y="2194560"/>
            <a:ext cx="777240" cy="777240"/>
          </a:xfrm>
          <a:prstGeom prst="ellipse">
            <a:avLst/>
          </a:prstGeom>
          <a:solidFill>
            <a:srgbClr val="4D148C"/>
          </a:solidFill>
          <a:ln w="12700">
            <a:solidFill>
              <a:srgbClr val="4D148C"/>
            </a:solidFill>
            <a:prstDash val="solid"/>
          </a:ln>
        </p:spPr>
        <p:txBody>
          <a:bodyPr/>
          <a:lstStyle/>
          <a:p>
            <a:endParaRPr lang="en-US"/>
          </a:p>
        </p:txBody>
      </p:sp>
      <p:sp>
        <p:nvSpPr>
          <p:cNvPr id="17" name="Text 15"/>
          <p:cNvSpPr/>
          <p:nvPr/>
        </p:nvSpPr>
        <p:spPr>
          <a:xfrm>
            <a:off x="6675120" y="2194560"/>
            <a:ext cx="77724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8" name="Text 16"/>
          <p:cNvSpPr/>
          <p:nvPr/>
        </p:nvSpPr>
        <p:spPr>
          <a:xfrm>
            <a:off x="6675120" y="3154680"/>
            <a:ext cx="2057400" cy="457200"/>
          </a:xfrm>
          <a:prstGeom prst="rect">
            <a:avLst/>
          </a:prstGeom>
          <a:noFill/>
          <a:ln/>
        </p:spPr>
        <p:txBody>
          <a:bodyPr wrap="square" rtlCol="0" anchor="ctr"/>
          <a:lstStyle/>
          <a:p>
            <a:pPr marL="0" indent="0">
              <a:buNone/>
            </a:pPr>
            <a:r>
              <a:rPr lang="en-US" sz="1800" b="1" dirty="0">
                <a:solidFill>
                  <a:srgbClr val="2E0854"/>
                </a:solidFill>
                <a:latin typeface="Calibri" pitchFamily="34" charset="0"/>
                <a:ea typeface="Calibri" pitchFamily="34" charset="-122"/>
                <a:cs typeface="Calibri" pitchFamily="34" charset="-120"/>
              </a:rPr>
              <a:t>Attach Files</a:t>
            </a:r>
            <a:endParaRPr lang="en-US" sz="1800" dirty="0"/>
          </a:p>
        </p:txBody>
      </p:sp>
      <p:sp>
        <p:nvSpPr>
          <p:cNvPr id="19" name="Text 17"/>
          <p:cNvSpPr/>
          <p:nvPr/>
        </p:nvSpPr>
        <p:spPr>
          <a:xfrm>
            <a:off x="6675120" y="3657600"/>
            <a:ext cx="2057400" cy="1097280"/>
          </a:xfrm>
          <a:prstGeom prst="rect">
            <a:avLst/>
          </a:prstGeom>
          <a:noFill/>
          <a:ln/>
        </p:spPr>
        <p:txBody>
          <a:bodyPr wrap="square" rtlCol="0" anchor="ctr"/>
          <a:lstStyle/>
          <a:p>
            <a:pPr marL="0" indent="0">
              <a:buNone/>
            </a:pPr>
            <a:r>
              <a:rPr lang="en-US" sz="1250" dirty="0">
                <a:solidFill>
                  <a:srgbClr val="3D4452"/>
                </a:solidFill>
                <a:latin typeface="Calibri" pitchFamily="34" charset="0"/>
                <a:ea typeface="Calibri" pitchFamily="34" charset="-122"/>
                <a:cs typeface="Calibri" pitchFamily="34" charset="-120"/>
              </a:rPr>
              <a:t>Drag in relevant PDFs, Excel files,</a:t>
            </a:r>
            <a:endParaRPr lang="en-US" sz="1250" dirty="0"/>
          </a:p>
          <a:p>
            <a:pPr marL="0" indent="0">
              <a:buNone/>
            </a:pPr>
            <a:r>
              <a:rPr lang="en-US" sz="1250" dirty="0">
                <a:solidFill>
                  <a:srgbClr val="3D4452"/>
                </a:solidFill>
                <a:latin typeface="Calibri" pitchFamily="34" charset="0"/>
                <a:ea typeface="Calibri" pitchFamily="34" charset="-122"/>
                <a:cs typeface="Calibri" pitchFamily="34" charset="-120"/>
              </a:rPr>
              <a:t>or decks to ground Copilot's response.</a:t>
            </a:r>
            <a:endParaRPr lang="en-US" sz="1250" dirty="0"/>
          </a:p>
        </p:txBody>
      </p:sp>
      <p:sp>
        <p:nvSpPr>
          <p:cNvPr id="20" name="Shape 18"/>
          <p:cNvSpPr/>
          <p:nvPr/>
        </p:nvSpPr>
        <p:spPr>
          <a:xfrm>
            <a:off x="9235440" y="1828800"/>
            <a:ext cx="2788920" cy="3017520"/>
          </a:xfrm>
          <a:prstGeom prst="rect">
            <a:avLst/>
          </a:prstGeom>
          <a:solidFill>
            <a:srgbClr val="FFFFFF"/>
          </a:solidFill>
          <a:ln w="12700">
            <a:solidFill>
              <a:srgbClr val="D7DEE8"/>
            </a:solidFill>
            <a:prstDash val="solid"/>
          </a:ln>
        </p:spPr>
        <p:txBody>
          <a:bodyPr/>
          <a:lstStyle/>
          <a:p>
            <a:endParaRPr lang="en-US"/>
          </a:p>
        </p:txBody>
      </p:sp>
      <p:sp>
        <p:nvSpPr>
          <p:cNvPr id="21" name="Shape 19"/>
          <p:cNvSpPr/>
          <p:nvPr/>
        </p:nvSpPr>
        <p:spPr>
          <a:xfrm>
            <a:off x="9601200" y="2194560"/>
            <a:ext cx="777240" cy="777240"/>
          </a:xfrm>
          <a:prstGeom prst="ellipse">
            <a:avLst/>
          </a:prstGeom>
          <a:solidFill>
            <a:srgbClr val="4D148C"/>
          </a:solidFill>
          <a:ln w="12700">
            <a:solidFill>
              <a:srgbClr val="4D148C"/>
            </a:solidFill>
            <a:prstDash val="solid"/>
          </a:ln>
        </p:spPr>
        <p:txBody>
          <a:bodyPr/>
          <a:lstStyle/>
          <a:p>
            <a:endParaRPr lang="en-US"/>
          </a:p>
        </p:txBody>
      </p:sp>
      <p:sp>
        <p:nvSpPr>
          <p:cNvPr id="22" name="Text 20"/>
          <p:cNvSpPr/>
          <p:nvPr/>
        </p:nvSpPr>
        <p:spPr>
          <a:xfrm>
            <a:off x="9601200" y="2194560"/>
            <a:ext cx="77724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4</a:t>
            </a:r>
            <a:endParaRPr lang="en-US" sz="2600" dirty="0"/>
          </a:p>
        </p:txBody>
      </p:sp>
      <p:sp>
        <p:nvSpPr>
          <p:cNvPr id="23" name="Text 21"/>
          <p:cNvSpPr/>
          <p:nvPr/>
        </p:nvSpPr>
        <p:spPr>
          <a:xfrm>
            <a:off x="9601200" y="3154680"/>
            <a:ext cx="2057400" cy="457200"/>
          </a:xfrm>
          <a:prstGeom prst="rect">
            <a:avLst/>
          </a:prstGeom>
          <a:noFill/>
          <a:ln/>
        </p:spPr>
        <p:txBody>
          <a:bodyPr wrap="square" rtlCol="0" anchor="ctr"/>
          <a:lstStyle/>
          <a:p>
            <a:pPr marL="0" indent="0">
              <a:buNone/>
            </a:pPr>
            <a:r>
              <a:rPr lang="en-US" sz="1800" b="1" dirty="0">
                <a:solidFill>
                  <a:srgbClr val="2E0854"/>
                </a:solidFill>
                <a:latin typeface="Calibri" pitchFamily="34" charset="0"/>
                <a:ea typeface="Calibri" pitchFamily="34" charset="-122"/>
                <a:cs typeface="Calibri" pitchFamily="34" charset="-120"/>
              </a:rPr>
              <a:t>Iterate</a:t>
            </a:r>
            <a:endParaRPr lang="en-US" sz="1800" dirty="0"/>
          </a:p>
        </p:txBody>
      </p:sp>
      <p:sp>
        <p:nvSpPr>
          <p:cNvPr id="24" name="Text 22"/>
          <p:cNvSpPr/>
          <p:nvPr/>
        </p:nvSpPr>
        <p:spPr>
          <a:xfrm>
            <a:off x="9601200" y="3657600"/>
            <a:ext cx="2057400" cy="1097280"/>
          </a:xfrm>
          <a:prstGeom prst="rect">
            <a:avLst/>
          </a:prstGeom>
          <a:noFill/>
          <a:ln/>
        </p:spPr>
        <p:txBody>
          <a:bodyPr wrap="square" rtlCol="0" anchor="ctr"/>
          <a:lstStyle/>
          <a:p>
            <a:pPr marL="0" indent="0">
              <a:buNone/>
            </a:pPr>
            <a:r>
              <a:rPr lang="en-US" sz="1250" dirty="0">
                <a:solidFill>
                  <a:srgbClr val="3D4452"/>
                </a:solidFill>
                <a:latin typeface="Calibri" pitchFamily="34" charset="0"/>
                <a:ea typeface="Calibri" pitchFamily="34" charset="-122"/>
                <a:cs typeface="Calibri" pitchFamily="34" charset="-120"/>
              </a:rPr>
              <a:t>Ask follow-up questions to refine,</a:t>
            </a:r>
            <a:endParaRPr lang="en-US" sz="1250" dirty="0"/>
          </a:p>
          <a:p>
            <a:pPr marL="0" indent="0">
              <a:buNone/>
            </a:pPr>
            <a:r>
              <a:rPr lang="en-US" sz="1250" dirty="0">
                <a:solidFill>
                  <a:srgbClr val="3D4452"/>
                </a:solidFill>
                <a:latin typeface="Calibri" pitchFamily="34" charset="0"/>
                <a:ea typeface="Calibri" pitchFamily="34" charset="-122"/>
                <a:cs typeface="Calibri" pitchFamily="34" charset="-120"/>
              </a:rPr>
              <a:t>expand, or reformat the output.</a:t>
            </a:r>
            <a:endParaRPr lang="en-US" sz="1250" dirty="0"/>
          </a:p>
        </p:txBody>
      </p:sp>
      <p:sp>
        <p:nvSpPr>
          <p:cNvPr id="25" name="Shape 23"/>
          <p:cNvSpPr/>
          <p:nvPr/>
        </p:nvSpPr>
        <p:spPr>
          <a:xfrm>
            <a:off x="457200" y="5212080"/>
            <a:ext cx="11247120" cy="868680"/>
          </a:xfrm>
          <a:prstGeom prst="rect">
            <a:avLst/>
          </a:prstGeom>
          <a:solidFill>
            <a:srgbClr val="2E0854"/>
          </a:solidFill>
          <a:ln w="12700">
            <a:solidFill>
              <a:srgbClr val="2E0854"/>
            </a:solidFill>
            <a:prstDash val="solid"/>
          </a:ln>
        </p:spPr>
        <p:txBody>
          <a:bodyPr/>
          <a:lstStyle/>
          <a:p>
            <a:endParaRPr lang="en-US"/>
          </a:p>
        </p:txBody>
      </p:sp>
      <p:sp>
        <p:nvSpPr>
          <p:cNvPr id="26" name="Shape 24"/>
          <p:cNvSpPr/>
          <p:nvPr/>
        </p:nvSpPr>
        <p:spPr>
          <a:xfrm>
            <a:off x="457200" y="5212080"/>
            <a:ext cx="109728" cy="868680"/>
          </a:xfrm>
          <a:prstGeom prst="rect">
            <a:avLst/>
          </a:prstGeom>
          <a:solidFill>
            <a:srgbClr val="C8102E"/>
          </a:solidFill>
          <a:ln/>
        </p:spPr>
        <p:txBody>
          <a:bodyPr/>
          <a:lstStyle/>
          <a:p>
            <a:endParaRPr lang="en-US"/>
          </a:p>
        </p:txBody>
      </p:sp>
      <p:sp>
        <p:nvSpPr>
          <p:cNvPr id="27" name="Text 25"/>
          <p:cNvSpPr/>
          <p:nvPr/>
        </p:nvSpPr>
        <p:spPr>
          <a:xfrm>
            <a:off x="777240" y="5212080"/>
            <a:ext cx="731520" cy="868680"/>
          </a:xfrm>
          <a:prstGeom prst="rect">
            <a:avLst/>
          </a:prstGeom>
          <a:noFill/>
          <a:ln/>
        </p:spPr>
        <p:txBody>
          <a:bodyPr wrap="square" rtlCol="0" anchor="ctr"/>
          <a:lstStyle/>
          <a:p>
            <a:pPr marL="0" indent="0">
              <a:buNone/>
            </a:pPr>
            <a:r>
              <a:rPr lang="en-US" sz="1400" b="1" kern="0" spc="400" dirty="0">
                <a:solidFill>
                  <a:srgbClr val="C8102E"/>
                </a:solidFill>
                <a:latin typeface="Calibri" pitchFamily="34" charset="0"/>
                <a:ea typeface="Calibri" pitchFamily="34" charset="-122"/>
                <a:cs typeface="Calibri" pitchFamily="34" charset="-120"/>
              </a:rPr>
              <a:t>TIP</a:t>
            </a:r>
            <a:endParaRPr lang="en-US" sz="1400" dirty="0"/>
          </a:p>
        </p:txBody>
      </p:sp>
      <p:sp>
        <p:nvSpPr>
          <p:cNvPr id="28" name="Text 26"/>
          <p:cNvSpPr/>
          <p:nvPr/>
        </p:nvSpPr>
        <p:spPr>
          <a:xfrm>
            <a:off x="1554480" y="5212080"/>
            <a:ext cx="10058400" cy="86868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These prompts work best in Microsoft 365 Copilot Chat (Work mode) — where Copilot accesses your Zava Shipping M365 data securely under your existing permissions.</a:t>
            </a:r>
            <a:endParaRPr lang="en-US" sz="1300" dirty="0"/>
          </a:p>
        </p:txBody>
      </p:sp>
      <p:sp>
        <p:nvSpPr>
          <p:cNvPr id="29" name="Text 27"/>
          <p:cNvSpPr/>
          <p:nvPr/>
        </p:nvSpPr>
        <p:spPr>
          <a:xfrm>
            <a:off x="457200" y="6355080"/>
            <a:ext cx="11247120" cy="320040"/>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Zava Shipping  |  Microsoft 365 Copilot Executive Prompt Guide  |  2026</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0854"/>
          </a:solidFill>
          <a:ln/>
        </p:spPr>
        <p:txBody>
          <a:bodyPr/>
          <a:lstStyle/>
          <a:p>
            <a:endParaRPr lang="en-US"/>
          </a:p>
        </p:txBody>
      </p:sp>
      <p:sp>
        <p:nvSpPr>
          <p:cNvPr id="3" name="Shape 1"/>
          <p:cNvSpPr/>
          <p:nvPr/>
        </p:nvSpPr>
        <p:spPr>
          <a:xfrm>
            <a:off x="3657600" y="0"/>
            <a:ext cx="54864" cy="6858000"/>
          </a:xfrm>
          <a:prstGeom prst="rect">
            <a:avLst/>
          </a:prstGeom>
          <a:solidFill>
            <a:srgbClr val="FF6600"/>
          </a:solidFill>
          <a:ln/>
        </p:spPr>
        <p:txBody>
          <a:bodyPr/>
          <a:lstStyle/>
          <a:p>
            <a:endParaRPr lang="en-US"/>
          </a:p>
        </p:txBody>
      </p:sp>
      <p:sp>
        <p:nvSpPr>
          <p:cNvPr id="4" name="Text 2"/>
          <p:cNvSpPr/>
          <p:nvPr/>
        </p:nvSpPr>
        <p:spPr>
          <a:xfrm>
            <a:off x="365760" y="411480"/>
            <a:ext cx="3108960" cy="320040"/>
          </a:xfrm>
          <a:prstGeom prst="rect">
            <a:avLst/>
          </a:prstGeom>
          <a:noFill/>
          <a:ln/>
        </p:spPr>
        <p:txBody>
          <a:bodyPr wrap="square" rtlCol="0" anchor="ctr"/>
          <a:lstStyle/>
          <a:p>
            <a:pPr marL="0" indent="0">
              <a:buNone/>
            </a:pPr>
            <a:r>
              <a:rPr lang="en-US" sz="1200" b="1" kern="0" spc="600" dirty="0">
                <a:solidFill>
                  <a:srgbClr val="FF6600"/>
                </a:solidFill>
                <a:latin typeface="Calibri" pitchFamily="34" charset="0"/>
                <a:ea typeface="Calibri" pitchFamily="34" charset="-122"/>
                <a:cs typeface="Calibri" pitchFamily="34" charset="-120"/>
              </a:rPr>
              <a:t>ZAVA SHIPPING</a:t>
            </a:r>
            <a:endParaRPr lang="en-US" sz="1200" dirty="0"/>
          </a:p>
        </p:txBody>
      </p:sp>
      <p:sp>
        <p:nvSpPr>
          <p:cNvPr id="5" name="Shape 3"/>
          <p:cNvSpPr/>
          <p:nvPr/>
        </p:nvSpPr>
        <p:spPr>
          <a:xfrm>
            <a:off x="365760" y="841248"/>
            <a:ext cx="914400" cy="36576"/>
          </a:xfrm>
          <a:prstGeom prst="rect">
            <a:avLst/>
          </a:prstGeom>
          <a:solidFill>
            <a:srgbClr val="C8102E"/>
          </a:solidFill>
          <a:ln/>
        </p:spPr>
        <p:txBody>
          <a:bodyPr/>
          <a:lstStyle/>
          <a:p>
            <a:endParaRPr lang="en-US"/>
          </a:p>
        </p:txBody>
      </p:sp>
      <p:sp>
        <p:nvSpPr>
          <p:cNvPr id="6" name="Text 4"/>
          <p:cNvSpPr/>
          <p:nvPr/>
        </p:nvSpPr>
        <p:spPr>
          <a:xfrm>
            <a:off x="365760" y="1143000"/>
            <a:ext cx="3108960" cy="13716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CEO &amp; C-Suite</a:t>
            </a:r>
            <a:endParaRPr lang="en-US" sz="3000" dirty="0"/>
          </a:p>
        </p:txBody>
      </p:sp>
      <p:sp>
        <p:nvSpPr>
          <p:cNvPr id="7" name="Text 5"/>
          <p:cNvSpPr/>
          <p:nvPr/>
        </p:nvSpPr>
        <p:spPr>
          <a:xfrm>
            <a:off x="365760" y="2788920"/>
            <a:ext cx="3108960" cy="731520"/>
          </a:xfrm>
          <a:prstGeom prst="rect">
            <a:avLst/>
          </a:prstGeom>
          <a:noFill/>
          <a:ln/>
        </p:spPr>
        <p:txBody>
          <a:bodyPr wrap="square" rtlCol="0" anchor="ctr"/>
          <a:lstStyle/>
          <a:p>
            <a:pPr marL="0" indent="0">
              <a:buNone/>
            </a:pPr>
            <a:r>
              <a:rPr lang="en-US" sz="1250" i="1" dirty="0">
                <a:solidFill>
                  <a:srgbClr val="FF6600"/>
                </a:solidFill>
                <a:latin typeface="Calibri" pitchFamily="34" charset="0"/>
                <a:ea typeface="Calibri" pitchFamily="34" charset="-122"/>
                <a:cs typeface="Calibri" pitchFamily="34" charset="-120"/>
              </a:rPr>
              <a:t>Strategic leadership  |  Zava Shipping enterprise reporting</a:t>
            </a:r>
            <a:endParaRPr lang="en-US" sz="1250" dirty="0"/>
          </a:p>
          <a:p>
            <a:pPr marL="0" indent="0">
              <a:buNone/>
            </a:pPr>
            <a:r>
              <a:rPr lang="en-US" sz="1250" i="1" dirty="0">
                <a:solidFill>
                  <a:srgbClr val="FF6600"/>
                </a:solidFill>
                <a:latin typeface="Calibri" pitchFamily="34" charset="0"/>
                <a:ea typeface="Calibri" pitchFamily="34" charset="-122"/>
                <a:cs typeface="Calibri" pitchFamily="34" charset="-120"/>
              </a:rPr>
              <a:t>Board communications  |  Investor &amp; analyst engagement</a:t>
            </a:r>
            <a:endParaRPr lang="en-US" sz="1250" dirty="0"/>
          </a:p>
        </p:txBody>
      </p:sp>
      <p:sp>
        <p:nvSpPr>
          <p:cNvPr id="8" name="Shape 6"/>
          <p:cNvSpPr/>
          <p:nvPr/>
        </p:nvSpPr>
        <p:spPr>
          <a:xfrm>
            <a:off x="365760" y="3749040"/>
            <a:ext cx="457200" cy="36576"/>
          </a:xfrm>
          <a:prstGeom prst="rect">
            <a:avLst/>
          </a:prstGeom>
          <a:solidFill>
            <a:srgbClr val="C8102E"/>
          </a:solidFill>
          <a:ln/>
        </p:spPr>
        <p:txBody>
          <a:bodyPr/>
          <a:lstStyle/>
          <a:p>
            <a:endParaRPr lang="en-US"/>
          </a:p>
        </p:txBody>
      </p:sp>
      <p:sp>
        <p:nvSpPr>
          <p:cNvPr id="9" name="Text 7"/>
          <p:cNvSpPr/>
          <p:nvPr/>
        </p:nvSpPr>
        <p:spPr>
          <a:xfrm>
            <a:off x="365760" y="3886200"/>
            <a:ext cx="3108960" cy="18288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Zava Shipping's CEO leads North America's largest LTL carrier at the intersection of network, customer, and capital. These prompts ground enterprise-wide narratives — from Zava Shipping reviews to industry keynotes — in the promise of moving 'Delivering Excellence.'</a:t>
            </a:r>
            <a:endParaRPr lang="en-US" sz="1150" dirty="0"/>
          </a:p>
        </p:txBody>
      </p:sp>
      <p:sp>
        <p:nvSpPr>
          <p:cNvPr id="10" name="Text 8"/>
          <p:cNvSpPr/>
          <p:nvPr/>
        </p:nvSpPr>
        <p:spPr>
          <a:xfrm>
            <a:off x="365760" y="6263640"/>
            <a:ext cx="3108960" cy="274320"/>
          </a:xfrm>
          <a:prstGeom prst="rect">
            <a:avLst/>
          </a:prstGeom>
          <a:noFill/>
          <a:ln/>
        </p:spPr>
        <p:txBody>
          <a:bodyPr wrap="square" rtlCol="0" anchor="ctr"/>
          <a:lstStyle/>
          <a:p>
            <a:pPr marL="0" indent="0">
              <a:buNone/>
            </a:pPr>
            <a:r>
              <a:rPr lang="en-US" sz="1000" i="1" dirty="0">
                <a:solidFill>
                  <a:srgbClr val="FF6600"/>
                </a:solidFill>
                <a:latin typeface="Calibri" pitchFamily="34" charset="0"/>
                <a:ea typeface="Calibri" pitchFamily="34" charset="-122"/>
                <a:cs typeface="Calibri" pitchFamily="34" charset="-120"/>
              </a:rPr>
              <a:t>Microsoft 365 Copilot Chat</a:t>
            </a:r>
            <a:endParaRPr lang="en-US" sz="1000" dirty="0"/>
          </a:p>
        </p:txBody>
      </p:sp>
      <p:sp>
        <p:nvSpPr>
          <p:cNvPr id="11" name="Shape 9"/>
          <p:cNvSpPr/>
          <p:nvPr/>
        </p:nvSpPr>
        <p:spPr>
          <a:xfrm>
            <a:off x="4069080"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2" name="Shape 10"/>
          <p:cNvSpPr/>
          <p:nvPr/>
        </p:nvSpPr>
        <p:spPr>
          <a:xfrm>
            <a:off x="4069080"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3" name="Text 11"/>
          <p:cNvSpPr/>
          <p:nvPr/>
        </p:nvSpPr>
        <p:spPr>
          <a:xfrm>
            <a:off x="4069080"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4" name="Text 12"/>
          <p:cNvSpPr/>
          <p:nvPr/>
        </p:nvSpPr>
        <p:spPr>
          <a:xfrm>
            <a:off x="4754880"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Zava Shipping Segment Performance Update</a:t>
            </a:r>
            <a:endParaRPr lang="en-US" sz="1400" dirty="0"/>
          </a:p>
        </p:txBody>
      </p:sp>
      <p:sp>
        <p:nvSpPr>
          <p:cNvPr id="15" name="Text 13"/>
          <p:cNvSpPr/>
          <p:nvPr/>
        </p:nvSpPr>
        <p:spPr>
          <a:xfrm>
            <a:off x="4297680"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"Draft a quarterly update for Zava Shipping leadership covering Zava Shipping's 2026 performance. Highlight LTL revenue and operating margin, shipments and weight per day, average revenue per shipment, network productivity, and any operational risks. Use a direct, factual tone suitable for the segment review."</a:t>
            </a:r>
            <a:endParaRPr lang="en-US" sz="1050" dirty="0"/>
          </a:p>
        </p:txBody>
      </p:sp>
      <p:sp>
        <p:nvSpPr>
          <p:cNvPr id="16" name="Shape 14"/>
          <p:cNvSpPr/>
          <p:nvPr/>
        </p:nvSpPr>
        <p:spPr>
          <a:xfrm>
            <a:off x="8016088"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7" name="Shape 15"/>
          <p:cNvSpPr/>
          <p:nvPr/>
        </p:nvSpPr>
        <p:spPr>
          <a:xfrm>
            <a:off x="8016088"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8" name="Text 16"/>
          <p:cNvSpPr/>
          <p:nvPr/>
        </p:nvSpPr>
        <p:spPr>
          <a:xfrm>
            <a:off x="8016088"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9" name="Text 17"/>
          <p:cNvSpPr/>
          <p:nvPr/>
        </p:nvSpPr>
        <p:spPr>
          <a:xfrm>
            <a:off x="8701888"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Industry Keynote on the Future of LTL</a:t>
            </a:r>
            <a:endParaRPr lang="en-US" sz="1400" dirty="0"/>
          </a:p>
        </p:txBody>
      </p:sp>
      <p:sp>
        <p:nvSpPr>
          <p:cNvPr id="20" name="Text 18"/>
          <p:cNvSpPr/>
          <p:nvPr/>
        </p:nvSpPr>
        <p:spPr>
          <a:xfrm>
            <a:off x="8244688"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"I'm delivering a keynote at the SMC³ Connections conference on the future of less-than-truckload freight. Draft a 5-minute opening that connects Zava Shipping's network density, service reliability, and technology investments to the broader shift in supply chains — closing with our commitment to moving 'Delivering Excellence.'"</a:t>
            </a:r>
            <a:endParaRPr lang="en-US" sz="1050" dirty="0"/>
          </a:p>
        </p:txBody>
      </p:sp>
      <p:sp>
        <p:nvSpPr>
          <p:cNvPr id="21" name="Shape 19"/>
          <p:cNvSpPr/>
          <p:nvPr/>
        </p:nvSpPr>
        <p:spPr>
          <a:xfrm>
            <a:off x="4069080"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2" name="Shape 20"/>
          <p:cNvSpPr/>
          <p:nvPr/>
        </p:nvSpPr>
        <p:spPr>
          <a:xfrm>
            <a:off x="4069080"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3" name="Text 21"/>
          <p:cNvSpPr/>
          <p:nvPr/>
        </p:nvSpPr>
        <p:spPr>
          <a:xfrm>
            <a:off x="4069080"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4" name="Text 22"/>
          <p:cNvSpPr/>
          <p:nvPr/>
        </p:nvSpPr>
        <p:spPr>
          <a:xfrm>
            <a:off x="4754880"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Competitive Strategic Positioning</a:t>
            </a:r>
            <a:endParaRPr lang="en-US" sz="1400" dirty="0"/>
          </a:p>
        </p:txBody>
      </p:sp>
      <p:sp>
        <p:nvSpPr>
          <p:cNvPr id="25" name="Text 23"/>
          <p:cNvSpPr/>
          <p:nvPr/>
        </p:nvSpPr>
        <p:spPr>
          <a:xfrm>
            <a:off x="4297680"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"Research our top three LTL competitors — Old Dominion, XPO, and Saia. Create a board-ready summary of their positioning versus Zava Shipping, highlighting our differentiation on national network coverage, on-time transit performance, and integration with the broader Zava Shipping portfolio."</a:t>
            </a:r>
            <a:endParaRPr lang="en-US" sz="1050" dirty="0"/>
          </a:p>
        </p:txBody>
      </p:sp>
      <p:sp>
        <p:nvSpPr>
          <p:cNvPr id="26" name="Shape 24"/>
          <p:cNvSpPr/>
          <p:nvPr/>
        </p:nvSpPr>
        <p:spPr>
          <a:xfrm>
            <a:off x="8016088"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7" name="Shape 25"/>
          <p:cNvSpPr/>
          <p:nvPr/>
        </p:nvSpPr>
        <p:spPr>
          <a:xfrm>
            <a:off x="8016088"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8" name="Text 26"/>
          <p:cNvSpPr/>
          <p:nvPr/>
        </p:nvSpPr>
        <p:spPr>
          <a:xfrm>
            <a:off x="8016088"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9" name="Text 27"/>
          <p:cNvSpPr/>
          <p:nvPr/>
        </p:nvSpPr>
        <p:spPr>
          <a:xfrm>
            <a:off x="8701888"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Enterprise Narrative</a:t>
            </a:r>
            <a:endParaRPr lang="en-US" sz="1400" dirty="0"/>
          </a:p>
        </p:txBody>
      </p:sp>
      <p:sp>
        <p:nvSpPr>
          <p:cNvPr id="30" name="Text 28"/>
          <p:cNvSpPr/>
          <p:nvPr/>
        </p:nvSpPr>
        <p:spPr>
          <a:xfrm>
            <a:off x="8244688"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"Draft a one-page narrative connecting Zava Shipping's purpose of moving 'Delivering Excellence' to our 2026 enterprise priorities: network efficiency, profitable revenue quality, driver and fleet investment, and a digital shipping experience. Use a confident, future-forward tone."</a:t>
            </a:r>
            <a:endParaRPr lang="en-US" sz="1050" dirty="0"/>
          </a:p>
        </p:txBody>
      </p:sp>
      <p:sp>
        <p:nvSpPr>
          <p:cNvPr id="31" name="Text 29"/>
          <p:cNvSpPr/>
          <p:nvPr/>
        </p:nvSpPr>
        <p:spPr>
          <a:xfrm>
            <a:off x="4069080" y="6492240"/>
            <a:ext cx="7848295"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Zava Shipping  |  Microsoft 365 Copilot Executive Prompt Guide  |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0854"/>
          </a:solidFill>
          <a:ln/>
        </p:spPr>
        <p:txBody>
          <a:bodyPr/>
          <a:lstStyle/>
          <a:p>
            <a:endParaRPr lang="en-US"/>
          </a:p>
        </p:txBody>
      </p:sp>
      <p:sp>
        <p:nvSpPr>
          <p:cNvPr id="3" name="Shape 1"/>
          <p:cNvSpPr/>
          <p:nvPr/>
        </p:nvSpPr>
        <p:spPr>
          <a:xfrm>
            <a:off x="3657600" y="0"/>
            <a:ext cx="54864" cy="6858000"/>
          </a:xfrm>
          <a:prstGeom prst="rect">
            <a:avLst/>
          </a:prstGeom>
          <a:solidFill>
            <a:srgbClr val="FF6600"/>
          </a:solidFill>
          <a:ln/>
        </p:spPr>
        <p:txBody>
          <a:bodyPr/>
          <a:lstStyle/>
          <a:p>
            <a:endParaRPr lang="en-US"/>
          </a:p>
        </p:txBody>
      </p:sp>
      <p:sp>
        <p:nvSpPr>
          <p:cNvPr id="4" name="Text 2"/>
          <p:cNvSpPr/>
          <p:nvPr/>
        </p:nvSpPr>
        <p:spPr>
          <a:xfrm>
            <a:off x="365760" y="411480"/>
            <a:ext cx="3108960" cy="320040"/>
          </a:xfrm>
          <a:prstGeom prst="rect">
            <a:avLst/>
          </a:prstGeom>
          <a:noFill/>
          <a:ln/>
        </p:spPr>
        <p:txBody>
          <a:bodyPr wrap="square" rtlCol="0" anchor="ctr"/>
          <a:lstStyle/>
          <a:p>
            <a:pPr marL="0" indent="0">
              <a:buNone/>
            </a:pPr>
            <a:r>
              <a:rPr lang="en-US" sz="1200" b="1" kern="0" spc="600" dirty="0">
                <a:solidFill>
                  <a:srgbClr val="FF6600"/>
                </a:solidFill>
                <a:latin typeface="Calibri" pitchFamily="34" charset="0"/>
                <a:ea typeface="Calibri" pitchFamily="34" charset="-122"/>
                <a:cs typeface="Calibri" pitchFamily="34" charset="-120"/>
              </a:rPr>
              <a:t>ZAVA SHIPPING</a:t>
            </a:r>
            <a:endParaRPr lang="en-US" sz="1200" dirty="0"/>
          </a:p>
        </p:txBody>
      </p:sp>
      <p:sp>
        <p:nvSpPr>
          <p:cNvPr id="5" name="Shape 3"/>
          <p:cNvSpPr/>
          <p:nvPr/>
        </p:nvSpPr>
        <p:spPr>
          <a:xfrm>
            <a:off x="365760" y="841248"/>
            <a:ext cx="914400" cy="36576"/>
          </a:xfrm>
          <a:prstGeom prst="rect">
            <a:avLst/>
          </a:prstGeom>
          <a:solidFill>
            <a:srgbClr val="C8102E"/>
          </a:solidFill>
          <a:ln/>
        </p:spPr>
        <p:txBody>
          <a:bodyPr/>
          <a:lstStyle/>
          <a:p>
            <a:endParaRPr lang="en-US"/>
          </a:p>
        </p:txBody>
      </p:sp>
      <p:sp>
        <p:nvSpPr>
          <p:cNvPr id="6" name="Text 4"/>
          <p:cNvSpPr/>
          <p:nvPr/>
        </p:nvSpPr>
        <p:spPr>
          <a:xfrm>
            <a:off x="365760" y="1143000"/>
            <a:ext cx="3108960" cy="13716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CFO &amp; Finance Leadership</a:t>
            </a:r>
            <a:endParaRPr lang="en-US" sz="3000" dirty="0"/>
          </a:p>
        </p:txBody>
      </p:sp>
      <p:sp>
        <p:nvSpPr>
          <p:cNvPr id="7" name="Text 5"/>
          <p:cNvSpPr/>
          <p:nvPr/>
        </p:nvSpPr>
        <p:spPr>
          <a:xfrm>
            <a:off x="365760" y="2788920"/>
            <a:ext cx="3108960" cy="731520"/>
          </a:xfrm>
          <a:prstGeom prst="rect">
            <a:avLst/>
          </a:prstGeom>
          <a:noFill/>
          <a:ln/>
        </p:spPr>
        <p:txBody>
          <a:bodyPr wrap="square" rtlCol="0" anchor="ctr"/>
          <a:lstStyle/>
          <a:p>
            <a:pPr marL="0" indent="0">
              <a:buNone/>
            </a:pPr>
            <a:r>
              <a:rPr lang="en-US" sz="1250" i="1" dirty="0">
                <a:solidFill>
                  <a:srgbClr val="FF6600"/>
                </a:solidFill>
                <a:latin typeface="Calibri" pitchFamily="34" charset="0"/>
                <a:ea typeface="Calibri" pitchFamily="34" charset="-122"/>
                <a:cs typeface="Calibri" pitchFamily="34" charset="-120"/>
              </a:rPr>
              <a:t>Capital allocation  |  Operating ratio</a:t>
            </a:r>
            <a:endParaRPr lang="en-US" sz="1250" dirty="0"/>
          </a:p>
          <a:p>
            <a:pPr marL="0" indent="0">
              <a:buNone/>
            </a:pPr>
            <a:r>
              <a:rPr lang="en-US" sz="1250" i="1" dirty="0">
                <a:solidFill>
                  <a:srgbClr val="FF6600"/>
                </a:solidFill>
                <a:latin typeface="Calibri" pitchFamily="34" charset="0"/>
                <a:ea typeface="Calibri" pitchFamily="34" charset="-122"/>
                <a:cs typeface="Calibri" pitchFamily="34" charset="-120"/>
              </a:rPr>
              <a:t>Working capital  |  Zava Shipping reporting</a:t>
            </a:r>
            <a:endParaRPr lang="en-US" sz="1250" dirty="0"/>
          </a:p>
        </p:txBody>
      </p:sp>
      <p:sp>
        <p:nvSpPr>
          <p:cNvPr id="8" name="Shape 6"/>
          <p:cNvSpPr/>
          <p:nvPr/>
        </p:nvSpPr>
        <p:spPr>
          <a:xfrm>
            <a:off x="365760" y="3749040"/>
            <a:ext cx="457200" cy="36576"/>
          </a:xfrm>
          <a:prstGeom prst="rect">
            <a:avLst/>
          </a:prstGeom>
          <a:solidFill>
            <a:srgbClr val="C8102E"/>
          </a:solidFill>
          <a:ln/>
        </p:spPr>
        <p:txBody>
          <a:bodyPr/>
          <a:lstStyle/>
          <a:p>
            <a:endParaRPr lang="en-US"/>
          </a:p>
        </p:txBody>
      </p:sp>
      <p:sp>
        <p:nvSpPr>
          <p:cNvPr id="9" name="Text 7"/>
          <p:cNvSpPr/>
          <p:nvPr/>
        </p:nvSpPr>
        <p:spPr>
          <a:xfrm>
            <a:off x="365760" y="3886200"/>
            <a:ext cx="3108960" cy="18288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Finance leaders at Zava Shipping balance disciplined capital deployment with the cyclical realities of LTL freight — fuel volatility, linehaul and labor cost, and capacity-heavy investments in service centers, tractors, and trailers.</a:t>
            </a:r>
            <a:endParaRPr lang="en-US" sz="1150" dirty="0"/>
          </a:p>
        </p:txBody>
      </p:sp>
      <p:sp>
        <p:nvSpPr>
          <p:cNvPr id="10" name="Text 8"/>
          <p:cNvSpPr/>
          <p:nvPr/>
        </p:nvSpPr>
        <p:spPr>
          <a:xfrm>
            <a:off x="365760" y="6263640"/>
            <a:ext cx="3108960" cy="274320"/>
          </a:xfrm>
          <a:prstGeom prst="rect">
            <a:avLst/>
          </a:prstGeom>
          <a:noFill/>
          <a:ln/>
        </p:spPr>
        <p:txBody>
          <a:bodyPr wrap="square" rtlCol="0" anchor="ctr"/>
          <a:lstStyle/>
          <a:p>
            <a:pPr marL="0" indent="0">
              <a:buNone/>
            </a:pPr>
            <a:r>
              <a:rPr lang="en-US" sz="1000" i="1" dirty="0">
                <a:solidFill>
                  <a:srgbClr val="FF6600"/>
                </a:solidFill>
                <a:latin typeface="Calibri" pitchFamily="34" charset="0"/>
                <a:ea typeface="Calibri" pitchFamily="34" charset="-122"/>
                <a:cs typeface="Calibri" pitchFamily="34" charset="-120"/>
              </a:rPr>
              <a:t>Microsoft 365 Copilot Chat</a:t>
            </a:r>
            <a:endParaRPr lang="en-US" sz="1000" dirty="0"/>
          </a:p>
        </p:txBody>
      </p:sp>
      <p:sp>
        <p:nvSpPr>
          <p:cNvPr id="11" name="Shape 9"/>
          <p:cNvSpPr/>
          <p:nvPr/>
        </p:nvSpPr>
        <p:spPr>
          <a:xfrm>
            <a:off x="4069080"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2" name="Shape 10"/>
          <p:cNvSpPr/>
          <p:nvPr/>
        </p:nvSpPr>
        <p:spPr>
          <a:xfrm>
            <a:off x="4069080"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3" name="Text 11"/>
          <p:cNvSpPr/>
          <p:nvPr/>
        </p:nvSpPr>
        <p:spPr>
          <a:xfrm>
            <a:off x="4069080"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4" name="Text 12"/>
          <p:cNvSpPr/>
          <p:nvPr/>
        </p:nvSpPr>
        <p:spPr>
          <a:xfrm>
            <a:off x="4754880"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CapEx Review for the Segment</a:t>
            </a:r>
            <a:endParaRPr lang="en-US" sz="1400" dirty="0"/>
          </a:p>
        </p:txBody>
      </p:sp>
      <p:sp>
        <p:nvSpPr>
          <p:cNvPr id="15" name="Text 13"/>
          <p:cNvSpPr/>
          <p:nvPr/>
        </p:nvSpPr>
        <p:spPr>
          <a:xfrm>
            <a:off x="4297680"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"Using /[CapEx_Plan.xlsx], summarize Zava Shipping's planned capital expenditure across our service-center network, tractors, and trailers for 2026. Identify the top 3 investments by ROI, flag projects tied to capacity or sustainability (facility expansion, electric/alternative-fuel equipment), and create a one-page summary for the capital allocation review."</a:t>
            </a:r>
            <a:endParaRPr lang="en-US" sz="1050" dirty="0"/>
          </a:p>
        </p:txBody>
      </p:sp>
      <p:sp>
        <p:nvSpPr>
          <p:cNvPr id="16" name="Shape 14"/>
          <p:cNvSpPr/>
          <p:nvPr/>
        </p:nvSpPr>
        <p:spPr>
          <a:xfrm>
            <a:off x="8016088"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7" name="Shape 15"/>
          <p:cNvSpPr/>
          <p:nvPr/>
        </p:nvSpPr>
        <p:spPr>
          <a:xfrm>
            <a:off x="8016088"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8" name="Text 16"/>
          <p:cNvSpPr/>
          <p:nvPr/>
        </p:nvSpPr>
        <p:spPr>
          <a:xfrm>
            <a:off x="8016088"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9" name="Text 17"/>
          <p:cNvSpPr/>
          <p:nvPr/>
        </p:nvSpPr>
        <p:spPr>
          <a:xfrm>
            <a:off x="8701888"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Cost-per-Shipment Pressure</a:t>
            </a:r>
            <a:endParaRPr lang="en-US" sz="1400" dirty="0"/>
          </a:p>
        </p:txBody>
      </p:sp>
      <p:sp>
        <p:nvSpPr>
          <p:cNvPr id="20" name="Text 18"/>
          <p:cNvSpPr/>
          <p:nvPr/>
        </p:nvSpPr>
        <p:spPr>
          <a:xfrm>
            <a:off x="8244688"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"Create a quarterly cost forecast for our largest operating cost categories including driver wages, purchased transportation, fuel, and maintenance. Use /[Operating_Cost.xlsx] as baseline, assume 4% wage inflation, flag where the operating ratio could deteriorate by more than 100 bps, and recommend pricing or productivity actions by category."</a:t>
            </a:r>
            <a:endParaRPr lang="en-US" sz="1050" dirty="0"/>
          </a:p>
        </p:txBody>
      </p:sp>
      <p:sp>
        <p:nvSpPr>
          <p:cNvPr id="21" name="Shape 19"/>
          <p:cNvSpPr/>
          <p:nvPr/>
        </p:nvSpPr>
        <p:spPr>
          <a:xfrm>
            <a:off x="4069080"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2" name="Shape 20"/>
          <p:cNvSpPr/>
          <p:nvPr/>
        </p:nvSpPr>
        <p:spPr>
          <a:xfrm>
            <a:off x="4069080"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3" name="Text 21"/>
          <p:cNvSpPr/>
          <p:nvPr/>
        </p:nvSpPr>
        <p:spPr>
          <a:xfrm>
            <a:off x="4069080"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4" name="Text 22"/>
          <p:cNvSpPr/>
          <p:nvPr/>
        </p:nvSpPr>
        <p:spPr>
          <a:xfrm>
            <a:off x="4754880"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Working Capital Release</a:t>
            </a:r>
            <a:endParaRPr lang="en-US" sz="1400" dirty="0"/>
          </a:p>
        </p:txBody>
      </p:sp>
      <p:sp>
        <p:nvSpPr>
          <p:cNvPr id="25" name="Text 23"/>
          <p:cNvSpPr/>
          <p:nvPr/>
        </p:nvSpPr>
        <p:spPr>
          <a:xfrm>
            <a:off x="4297680"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"Analyze our days sales outstanding and billing-cycle performance across regions using /[WorkingCapital.xlsx]. Identify the top 5 service centers where billing accuracy or collections lag targets and recommend specific actions to release $50M in working capital within 90 days."</a:t>
            </a:r>
            <a:endParaRPr lang="en-US" sz="1050" dirty="0"/>
          </a:p>
        </p:txBody>
      </p:sp>
      <p:sp>
        <p:nvSpPr>
          <p:cNvPr id="26" name="Shape 24"/>
          <p:cNvSpPr/>
          <p:nvPr/>
        </p:nvSpPr>
        <p:spPr>
          <a:xfrm>
            <a:off x="8016088"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7" name="Shape 25"/>
          <p:cNvSpPr/>
          <p:nvPr/>
        </p:nvSpPr>
        <p:spPr>
          <a:xfrm>
            <a:off x="8016088"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8" name="Text 26"/>
          <p:cNvSpPr/>
          <p:nvPr/>
        </p:nvSpPr>
        <p:spPr>
          <a:xfrm>
            <a:off x="8016088"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9" name="Text 27"/>
          <p:cNvSpPr/>
          <p:nvPr/>
        </p:nvSpPr>
        <p:spPr>
          <a:xfrm>
            <a:off x="8701888"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Customer Concentration Risk</a:t>
            </a:r>
            <a:endParaRPr lang="en-US" sz="1400" dirty="0"/>
          </a:p>
        </p:txBody>
      </p:sp>
      <p:sp>
        <p:nvSpPr>
          <p:cNvPr id="30" name="Text 28"/>
          <p:cNvSpPr/>
          <p:nvPr/>
        </p:nvSpPr>
        <p:spPr>
          <a:xfrm>
            <a:off x="8244688"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"Summarize the revenue concentration risk across our top 20 accounts using /[CustomerRevenue.xlsx]. Project a downside scenario if our largest national account reduced volume by 15%, quantify the operating-income impact, and recommend three mitigation strategies."</a:t>
            </a:r>
            <a:endParaRPr lang="en-US" sz="1050" dirty="0"/>
          </a:p>
        </p:txBody>
      </p:sp>
      <p:sp>
        <p:nvSpPr>
          <p:cNvPr id="31" name="Text 29"/>
          <p:cNvSpPr/>
          <p:nvPr/>
        </p:nvSpPr>
        <p:spPr>
          <a:xfrm>
            <a:off x="4069080" y="6492240"/>
            <a:ext cx="7848295"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Zava Shipping  |  Microsoft 365 Copilot Executive Prompt Guide  |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0854"/>
          </a:solidFill>
          <a:ln/>
        </p:spPr>
        <p:txBody>
          <a:bodyPr/>
          <a:lstStyle/>
          <a:p>
            <a:endParaRPr lang="en-US"/>
          </a:p>
        </p:txBody>
      </p:sp>
      <p:sp>
        <p:nvSpPr>
          <p:cNvPr id="3" name="Shape 1"/>
          <p:cNvSpPr/>
          <p:nvPr/>
        </p:nvSpPr>
        <p:spPr>
          <a:xfrm>
            <a:off x="3657600" y="0"/>
            <a:ext cx="54864" cy="6858000"/>
          </a:xfrm>
          <a:prstGeom prst="rect">
            <a:avLst/>
          </a:prstGeom>
          <a:solidFill>
            <a:srgbClr val="FF6600"/>
          </a:solidFill>
          <a:ln/>
        </p:spPr>
        <p:txBody>
          <a:bodyPr/>
          <a:lstStyle/>
          <a:p>
            <a:endParaRPr lang="en-US"/>
          </a:p>
        </p:txBody>
      </p:sp>
      <p:sp>
        <p:nvSpPr>
          <p:cNvPr id="4" name="Text 2"/>
          <p:cNvSpPr/>
          <p:nvPr/>
        </p:nvSpPr>
        <p:spPr>
          <a:xfrm>
            <a:off x="365760" y="411480"/>
            <a:ext cx="3108960" cy="320040"/>
          </a:xfrm>
          <a:prstGeom prst="rect">
            <a:avLst/>
          </a:prstGeom>
          <a:noFill/>
          <a:ln/>
        </p:spPr>
        <p:txBody>
          <a:bodyPr wrap="square" rtlCol="0" anchor="ctr"/>
          <a:lstStyle/>
          <a:p>
            <a:pPr marL="0" indent="0">
              <a:buNone/>
            </a:pPr>
            <a:r>
              <a:rPr lang="en-US" sz="1200" b="1" kern="0" spc="600" dirty="0">
                <a:solidFill>
                  <a:srgbClr val="FF6600"/>
                </a:solidFill>
                <a:latin typeface="Calibri" pitchFamily="34" charset="0"/>
                <a:ea typeface="Calibri" pitchFamily="34" charset="-122"/>
                <a:cs typeface="Calibri" pitchFamily="34" charset="-120"/>
              </a:rPr>
              <a:t>ZAVA SHIPPING</a:t>
            </a:r>
            <a:endParaRPr lang="en-US" sz="1200" dirty="0"/>
          </a:p>
        </p:txBody>
      </p:sp>
      <p:sp>
        <p:nvSpPr>
          <p:cNvPr id="5" name="Shape 3"/>
          <p:cNvSpPr/>
          <p:nvPr/>
        </p:nvSpPr>
        <p:spPr>
          <a:xfrm>
            <a:off x="365760" y="841248"/>
            <a:ext cx="914400" cy="36576"/>
          </a:xfrm>
          <a:prstGeom prst="rect">
            <a:avLst/>
          </a:prstGeom>
          <a:solidFill>
            <a:srgbClr val="C8102E"/>
          </a:solidFill>
          <a:ln/>
        </p:spPr>
        <p:txBody>
          <a:bodyPr/>
          <a:lstStyle/>
          <a:p>
            <a:endParaRPr lang="en-US"/>
          </a:p>
        </p:txBody>
      </p:sp>
      <p:sp>
        <p:nvSpPr>
          <p:cNvPr id="6" name="Text 4"/>
          <p:cNvSpPr/>
          <p:nvPr/>
        </p:nvSpPr>
        <p:spPr>
          <a:xfrm>
            <a:off x="365760" y="1143000"/>
            <a:ext cx="3108960" cy="13716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VP Operations &amp; Linehaul</a:t>
            </a:r>
            <a:endParaRPr lang="en-US" sz="3000" dirty="0"/>
          </a:p>
        </p:txBody>
      </p:sp>
      <p:sp>
        <p:nvSpPr>
          <p:cNvPr id="7" name="Text 5"/>
          <p:cNvSpPr/>
          <p:nvPr/>
        </p:nvSpPr>
        <p:spPr>
          <a:xfrm>
            <a:off x="365760" y="2788920"/>
            <a:ext cx="3108960" cy="731520"/>
          </a:xfrm>
          <a:prstGeom prst="rect">
            <a:avLst/>
          </a:prstGeom>
          <a:noFill/>
          <a:ln/>
        </p:spPr>
        <p:txBody>
          <a:bodyPr wrap="square" rtlCol="0" anchor="ctr"/>
          <a:lstStyle/>
          <a:p>
            <a:pPr marL="0" indent="0">
              <a:buNone/>
            </a:pPr>
            <a:r>
              <a:rPr lang="en-US" sz="1250" i="1" dirty="0">
                <a:solidFill>
                  <a:srgbClr val="FF6600"/>
                </a:solidFill>
                <a:latin typeface="Calibri" pitchFamily="34" charset="0"/>
                <a:ea typeface="Calibri" pitchFamily="34" charset="-122"/>
                <a:cs typeface="Calibri" pitchFamily="34" charset="-120"/>
              </a:rPr>
              <a:t>Network movement  |  Dock productivity</a:t>
            </a:r>
            <a:endParaRPr lang="en-US" sz="1250" dirty="0"/>
          </a:p>
          <a:p>
            <a:pPr marL="0" indent="0">
              <a:buNone/>
            </a:pPr>
            <a:r>
              <a:rPr lang="en-US" sz="1250" i="1" dirty="0">
                <a:solidFill>
                  <a:srgbClr val="FF6600"/>
                </a:solidFill>
                <a:latin typeface="Calibri" pitchFamily="34" charset="0"/>
                <a:ea typeface="Calibri" pitchFamily="34" charset="-122"/>
                <a:cs typeface="Calibri" pitchFamily="34" charset="-120"/>
              </a:rPr>
              <a:t>Transit reliability  |  Capacity planning</a:t>
            </a:r>
            <a:endParaRPr lang="en-US" sz="1250" dirty="0"/>
          </a:p>
        </p:txBody>
      </p:sp>
      <p:sp>
        <p:nvSpPr>
          <p:cNvPr id="8" name="Shape 6"/>
          <p:cNvSpPr/>
          <p:nvPr/>
        </p:nvSpPr>
        <p:spPr>
          <a:xfrm>
            <a:off x="365760" y="3749040"/>
            <a:ext cx="457200" cy="36576"/>
          </a:xfrm>
          <a:prstGeom prst="rect">
            <a:avLst/>
          </a:prstGeom>
          <a:solidFill>
            <a:srgbClr val="C8102E"/>
          </a:solidFill>
          <a:ln/>
        </p:spPr>
        <p:txBody>
          <a:bodyPr/>
          <a:lstStyle/>
          <a:p>
            <a:endParaRPr lang="en-US"/>
          </a:p>
        </p:txBody>
      </p:sp>
      <p:sp>
        <p:nvSpPr>
          <p:cNvPr id="9" name="Text 7"/>
          <p:cNvSpPr/>
          <p:nvPr/>
        </p:nvSpPr>
        <p:spPr>
          <a:xfrm>
            <a:off x="365760" y="3886200"/>
            <a:ext cx="3108960" cy="18288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Zava Shipping's linehaul network is the backbone of LTL service. These prompts help operations leaders translate network data into board narratives, capacity decisions, and reliability improvements across service centers, dock operations, and over-the-road moves.</a:t>
            </a:r>
            <a:endParaRPr lang="en-US" sz="1150" dirty="0"/>
          </a:p>
        </p:txBody>
      </p:sp>
      <p:sp>
        <p:nvSpPr>
          <p:cNvPr id="10" name="Text 8"/>
          <p:cNvSpPr/>
          <p:nvPr/>
        </p:nvSpPr>
        <p:spPr>
          <a:xfrm>
            <a:off x="365760" y="6263640"/>
            <a:ext cx="3108960" cy="274320"/>
          </a:xfrm>
          <a:prstGeom prst="rect">
            <a:avLst/>
          </a:prstGeom>
          <a:noFill/>
          <a:ln/>
        </p:spPr>
        <p:txBody>
          <a:bodyPr wrap="square" rtlCol="0" anchor="ctr"/>
          <a:lstStyle/>
          <a:p>
            <a:pPr marL="0" indent="0">
              <a:buNone/>
            </a:pPr>
            <a:r>
              <a:rPr lang="en-US" sz="1000" i="1" dirty="0">
                <a:solidFill>
                  <a:srgbClr val="FF6600"/>
                </a:solidFill>
                <a:latin typeface="Calibri" pitchFamily="34" charset="0"/>
                <a:ea typeface="Calibri" pitchFamily="34" charset="-122"/>
                <a:cs typeface="Calibri" pitchFamily="34" charset="-120"/>
              </a:rPr>
              <a:t>Microsoft 365 Copilot Chat</a:t>
            </a:r>
            <a:endParaRPr lang="en-US" sz="1000" dirty="0"/>
          </a:p>
        </p:txBody>
      </p:sp>
      <p:sp>
        <p:nvSpPr>
          <p:cNvPr id="11" name="Shape 9"/>
          <p:cNvSpPr/>
          <p:nvPr/>
        </p:nvSpPr>
        <p:spPr>
          <a:xfrm>
            <a:off x="4069080"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2" name="Shape 10"/>
          <p:cNvSpPr/>
          <p:nvPr/>
        </p:nvSpPr>
        <p:spPr>
          <a:xfrm>
            <a:off x="4069080"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3" name="Text 11"/>
          <p:cNvSpPr/>
          <p:nvPr/>
        </p:nvSpPr>
        <p:spPr>
          <a:xfrm>
            <a:off x="4069080"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4" name="Text 12"/>
          <p:cNvSpPr/>
          <p:nvPr/>
        </p:nvSpPr>
        <p:spPr>
          <a:xfrm>
            <a:off x="4754880"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Network Performance for the Board</a:t>
            </a:r>
            <a:endParaRPr lang="en-US" sz="1400" dirty="0"/>
          </a:p>
        </p:txBody>
      </p:sp>
      <p:sp>
        <p:nvSpPr>
          <p:cNvPr id="15" name="Text 13"/>
          <p:cNvSpPr/>
          <p:nvPr/>
        </p:nvSpPr>
        <p:spPr>
          <a:xfrm>
            <a:off x="4297680"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"Create content for a board-level operations slide showing Zava Shipping's network performance across linehaul, pickup-and-delivery, and dock operations. Cover near-term reliability (2026), planned capacity additions, and longer-horizon automation initiatives. Tag each by service impact and cost-to-serve."</a:t>
            </a:r>
            <a:endParaRPr lang="en-US" sz="1050" dirty="0"/>
          </a:p>
        </p:txBody>
      </p:sp>
      <p:sp>
        <p:nvSpPr>
          <p:cNvPr id="16" name="Shape 14"/>
          <p:cNvSpPr/>
          <p:nvPr/>
        </p:nvSpPr>
        <p:spPr>
          <a:xfrm>
            <a:off x="8016088"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7" name="Shape 15"/>
          <p:cNvSpPr/>
          <p:nvPr/>
        </p:nvSpPr>
        <p:spPr>
          <a:xfrm>
            <a:off x="8016088"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8" name="Text 16"/>
          <p:cNvSpPr/>
          <p:nvPr/>
        </p:nvSpPr>
        <p:spPr>
          <a:xfrm>
            <a:off x="8016088"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9" name="Text 17"/>
          <p:cNvSpPr/>
          <p:nvPr/>
        </p:nvSpPr>
        <p:spPr>
          <a:xfrm>
            <a:off x="8701888"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Linehaul Optimization Roadmap</a:t>
            </a:r>
            <a:endParaRPr lang="en-US" sz="1400" dirty="0"/>
          </a:p>
        </p:txBody>
      </p:sp>
      <p:sp>
        <p:nvSpPr>
          <p:cNvPr id="20" name="Text 18"/>
          <p:cNvSpPr/>
          <p:nvPr/>
        </p:nvSpPr>
        <p:spPr>
          <a:xfrm>
            <a:off x="8244688"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"Summarize the requirements to improve linehaul efficiency across our highest-volume lanes based on recent load-factor, empty-mile, and transit-time data. For each requirement, identify which lanes are already optimized and which need targeted investment in 2026 to improve on-time performance."</a:t>
            </a:r>
            <a:endParaRPr lang="en-US" sz="1050" dirty="0"/>
          </a:p>
        </p:txBody>
      </p:sp>
      <p:sp>
        <p:nvSpPr>
          <p:cNvPr id="21" name="Shape 19"/>
          <p:cNvSpPr/>
          <p:nvPr/>
        </p:nvSpPr>
        <p:spPr>
          <a:xfrm>
            <a:off x="4069080"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2" name="Shape 20"/>
          <p:cNvSpPr/>
          <p:nvPr/>
        </p:nvSpPr>
        <p:spPr>
          <a:xfrm>
            <a:off x="4069080"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3" name="Text 21"/>
          <p:cNvSpPr/>
          <p:nvPr/>
        </p:nvSpPr>
        <p:spPr>
          <a:xfrm>
            <a:off x="4069080"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4" name="Text 22"/>
          <p:cNvSpPr/>
          <p:nvPr/>
        </p:nvSpPr>
        <p:spPr>
          <a:xfrm>
            <a:off x="4754880"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Service-Center Throughput Analysis</a:t>
            </a:r>
            <a:endParaRPr lang="en-US" sz="1400" dirty="0"/>
          </a:p>
        </p:txBody>
      </p:sp>
      <p:sp>
        <p:nvSpPr>
          <p:cNvPr id="25" name="Text 23"/>
          <p:cNvSpPr/>
          <p:nvPr/>
        </p:nvSpPr>
        <p:spPr>
          <a:xfrm>
            <a:off x="4297680"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"Review /[DockMetrics.pdf] on freight handling, dwell time, and dock-to-dock transit. Identify bottleneck service centers where Zava Shipping should add capacity or rebalance lanes in 2026, and flag any locations posing on-time-delivery risk. Format as a one-page brief for the operations leadership team."</a:t>
            </a:r>
            <a:endParaRPr lang="en-US" sz="1050" dirty="0"/>
          </a:p>
        </p:txBody>
      </p:sp>
      <p:sp>
        <p:nvSpPr>
          <p:cNvPr id="26" name="Shape 24"/>
          <p:cNvSpPr/>
          <p:nvPr/>
        </p:nvSpPr>
        <p:spPr>
          <a:xfrm>
            <a:off x="8016088"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7" name="Shape 25"/>
          <p:cNvSpPr/>
          <p:nvPr/>
        </p:nvSpPr>
        <p:spPr>
          <a:xfrm>
            <a:off x="8016088"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8" name="Text 26"/>
          <p:cNvSpPr/>
          <p:nvPr/>
        </p:nvSpPr>
        <p:spPr>
          <a:xfrm>
            <a:off x="8016088"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9" name="Text 27"/>
          <p:cNvSpPr/>
          <p:nvPr/>
        </p:nvSpPr>
        <p:spPr>
          <a:xfrm>
            <a:off x="8701888"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Peak-Season Capacity Plan</a:t>
            </a:r>
            <a:endParaRPr lang="en-US" sz="1400" dirty="0"/>
          </a:p>
        </p:txBody>
      </p:sp>
      <p:sp>
        <p:nvSpPr>
          <p:cNvPr id="30" name="Text 28"/>
          <p:cNvSpPr/>
          <p:nvPr/>
        </p:nvSpPr>
        <p:spPr>
          <a:xfrm>
            <a:off x="8244688"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"Draft a plan for managing peak-season capacity across our network. Recommend three priority levers (flexible linehaul, dock staffing, customer demand shaping) and identify the top service centers and lanes for each, with rationale and a readiness timeline."</a:t>
            </a:r>
            <a:endParaRPr lang="en-US" sz="1050" dirty="0"/>
          </a:p>
        </p:txBody>
      </p:sp>
      <p:sp>
        <p:nvSpPr>
          <p:cNvPr id="31" name="Text 29"/>
          <p:cNvSpPr/>
          <p:nvPr/>
        </p:nvSpPr>
        <p:spPr>
          <a:xfrm>
            <a:off x="4069080" y="6492240"/>
            <a:ext cx="7848295"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Zava Shipping  |  Microsoft 365 Copilot Executive Prompt Guide  |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0854"/>
          </a:solidFill>
          <a:ln/>
        </p:spPr>
        <p:txBody>
          <a:bodyPr/>
          <a:lstStyle/>
          <a:p>
            <a:endParaRPr lang="en-US"/>
          </a:p>
        </p:txBody>
      </p:sp>
      <p:sp>
        <p:nvSpPr>
          <p:cNvPr id="3" name="Shape 1"/>
          <p:cNvSpPr/>
          <p:nvPr/>
        </p:nvSpPr>
        <p:spPr>
          <a:xfrm>
            <a:off x="3657600" y="0"/>
            <a:ext cx="54864" cy="6858000"/>
          </a:xfrm>
          <a:prstGeom prst="rect">
            <a:avLst/>
          </a:prstGeom>
          <a:solidFill>
            <a:srgbClr val="FF6600"/>
          </a:solidFill>
          <a:ln/>
        </p:spPr>
        <p:txBody>
          <a:bodyPr/>
          <a:lstStyle/>
          <a:p>
            <a:endParaRPr lang="en-US"/>
          </a:p>
        </p:txBody>
      </p:sp>
      <p:sp>
        <p:nvSpPr>
          <p:cNvPr id="4" name="Text 2"/>
          <p:cNvSpPr/>
          <p:nvPr/>
        </p:nvSpPr>
        <p:spPr>
          <a:xfrm>
            <a:off x="365760" y="411480"/>
            <a:ext cx="3108960" cy="320040"/>
          </a:xfrm>
          <a:prstGeom prst="rect">
            <a:avLst/>
          </a:prstGeom>
          <a:noFill/>
          <a:ln/>
        </p:spPr>
        <p:txBody>
          <a:bodyPr wrap="square" rtlCol="0" anchor="ctr"/>
          <a:lstStyle/>
          <a:p>
            <a:pPr marL="0" indent="0">
              <a:buNone/>
            </a:pPr>
            <a:r>
              <a:rPr lang="en-US" sz="1200" b="1" kern="0" spc="600" dirty="0">
                <a:solidFill>
                  <a:srgbClr val="FF6600"/>
                </a:solidFill>
                <a:latin typeface="Calibri" pitchFamily="34" charset="0"/>
                <a:ea typeface="Calibri" pitchFamily="34" charset="-122"/>
                <a:cs typeface="Calibri" pitchFamily="34" charset="-120"/>
              </a:rPr>
              <a:t>ZAVA SHIPPING</a:t>
            </a:r>
            <a:endParaRPr lang="en-US" sz="1200" dirty="0"/>
          </a:p>
        </p:txBody>
      </p:sp>
      <p:sp>
        <p:nvSpPr>
          <p:cNvPr id="5" name="Shape 3"/>
          <p:cNvSpPr/>
          <p:nvPr/>
        </p:nvSpPr>
        <p:spPr>
          <a:xfrm>
            <a:off x="365760" y="841248"/>
            <a:ext cx="914400" cy="36576"/>
          </a:xfrm>
          <a:prstGeom prst="rect">
            <a:avLst/>
          </a:prstGeom>
          <a:solidFill>
            <a:srgbClr val="C8102E"/>
          </a:solidFill>
          <a:ln/>
        </p:spPr>
        <p:txBody>
          <a:bodyPr/>
          <a:lstStyle/>
          <a:p>
            <a:endParaRPr lang="en-US"/>
          </a:p>
        </p:txBody>
      </p:sp>
      <p:sp>
        <p:nvSpPr>
          <p:cNvPr id="6" name="Text 4"/>
          <p:cNvSpPr/>
          <p:nvPr/>
        </p:nvSpPr>
        <p:spPr>
          <a:xfrm>
            <a:off x="365760" y="1143000"/>
            <a:ext cx="3108960" cy="13716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Regional Vice President</a:t>
            </a:r>
            <a:endParaRPr lang="en-US" sz="3000" dirty="0"/>
          </a:p>
        </p:txBody>
      </p:sp>
      <p:sp>
        <p:nvSpPr>
          <p:cNvPr id="7" name="Text 5"/>
          <p:cNvSpPr/>
          <p:nvPr/>
        </p:nvSpPr>
        <p:spPr>
          <a:xfrm>
            <a:off x="365760" y="2788920"/>
            <a:ext cx="3108960" cy="731520"/>
          </a:xfrm>
          <a:prstGeom prst="rect">
            <a:avLst/>
          </a:prstGeom>
          <a:noFill/>
          <a:ln/>
        </p:spPr>
        <p:txBody>
          <a:bodyPr wrap="square" rtlCol="0" anchor="ctr"/>
          <a:lstStyle/>
          <a:p>
            <a:pPr marL="0" indent="0">
              <a:buNone/>
            </a:pPr>
            <a:r>
              <a:rPr lang="en-US" sz="1250" i="1" dirty="0">
                <a:solidFill>
                  <a:srgbClr val="FF6600"/>
                </a:solidFill>
                <a:latin typeface="Calibri" pitchFamily="34" charset="0"/>
                <a:ea typeface="Calibri" pitchFamily="34" charset="-122"/>
                <a:cs typeface="Calibri" pitchFamily="34" charset="-120"/>
              </a:rPr>
              <a:t>P&amp;L stewardship  |  Service-center performance</a:t>
            </a:r>
            <a:endParaRPr lang="en-US" sz="1250" dirty="0"/>
          </a:p>
          <a:p>
            <a:pPr marL="0" indent="0">
              <a:buNone/>
            </a:pPr>
            <a:r>
              <a:rPr lang="en-US" sz="1250" i="1" dirty="0">
                <a:solidFill>
                  <a:srgbClr val="FF6600"/>
                </a:solidFill>
                <a:latin typeface="Calibri" pitchFamily="34" charset="0"/>
                <a:ea typeface="Calibri" pitchFamily="34" charset="-122"/>
                <a:cs typeface="Calibri" pitchFamily="34" charset="-120"/>
              </a:rPr>
              <a:t>Customer relationships  |  Growth plans</a:t>
            </a:r>
            <a:endParaRPr lang="en-US" sz="1250" dirty="0"/>
          </a:p>
        </p:txBody>
      </p:sp>
      <p:sp>
        <p:nvSpPr>
          <p:cNvPr id="8" name="Shape 6"/>
          <p:cNvSpPr/>
          <p:nvPr/>
        </p:nvSpPr>
        <p:spPr>
          <a:xfrm>
            <a:off x="365760" y="3749040"/>
            <a:ext cx="457200" cy="36576"/>
          </a:xfrm>
          <a:prstGeom prst="rect">
            <a:avLst/>
          </a:prstGeom>
          <a:solidFill>
            <a:srgbClr val="C8102E"/>
          </a:solidFill>
          <a:ln/>
        </p:spPr>
        <p:txBody>
          <a:bodyPr/>
          <a:lstStyle/>
          <a:p>
            <a:endParaRPr lang="en-US"/>
          </a:p>
        </p:txBody>
      </p:sp>
      <p:sp>
        <p:nvSpPr>
          <p:cNvPr id="9" name="Text 7"/>
          <p:cNvSpPr/>
          <p:nvPr/>
        </p:nvSpPr>
        <p:spPr>
          <a:xfrm>
            <a:off x="365760" y="3886200"/>
            <a:ext cx="3108960" cy="18288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Whether running the East, Central, or West region, Zava Shipping Regional VPs own a P&amp;L spanning dozens of service centers. These prompts accelerate the quarterly rhythms, network decisions, and customer moments that make or break the year.</a:t>
            </a:r>
            <a:endParaRPr lang="en-US" sz="1150" dirty="0"/>
          </a:p>
        </p:txBody>
      </p:sp>
      <p:sp>
        <p:nvSpPr>
          <p:cNvPr id="10" name="Text 8"/>
          <p:cNvSpPr/>
          <p:nvPr/>
        </p:nvSpPr>
        <p:spPr>
          <a:xfrm>
            <a:off x="365760" y="6263640"/>
            <a:ext cx="3108960" cy="274320"/>
          </a:xfrm>
          <a:prstGeom prst="rect">
            <a:avLst/>
          </a:prstGeom>
          <a:noFill/>
          <a:ln/>
        </p:spPr>
        <p:txBody>
          <a:bodyPr wrap="square" rtlCol="0" anchor="ctr"/>
          <a:lstStyle/>
          <a:p>
            <a:pPr marL="0" indent="0">
              <a:buNone/>
            </a:pPr>
            <a:r>
              <a:rPr lang="en-US" sz="1000" i="1" dirty="0">
                <a:solidFill>
                  <a:srgbClr val="FF6600"/>
                </a:solidFill>
                <a:latin typeface="Calibri" pitchFamily="34" charset="0"/>
                <a:ea typeface="Calibri" pitchFamily="34" charset="-122"/>
                <a:cs typeface="Calibri" pitchFamily="34" charset="-120"/>
              </a:rPr>
              <a:t>Microsoft 365 Copilot Chat</a:t>
            </a:r>
            <a:endParaRPr lang="en-US" sz="1000" dirty="0"/>
          </a:p>
        </p:txBody>
      </p:sp>
      <p:sp>
        <p:nvSpPr>
          <p:cNvPr id="11" name="Shape 9"/>
          <p:cNvSpPr/>
          <p:nvPr/>
        </p:nvSpPr>
        <p:spPr>
          <a:xfrm>
            <a:off x="4069080"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2" name="Shape 10"/>
          <p:cNvSpPr/>
          <p:nvPr/>
        </p:nvSpPr>
        <p:spPr>
          <a:xfrm>
            <a:off x="4069080"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3" name="Text 11"/>
          <p:cNvSpPr/>
          <p:nvPr/>
        </p:nvSpPr>
        <p:spPr>
          <a:xfrm>
            <a:off x="4069080"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4" name="Text 12"/>
          <p:cNvSpPr/>
          <p:nvPr/>
        </p:nvSpPr>
        <p:spPr>
          <a:xfrm>
            <a:off x="4754880"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Mid-Year Business Review</a:t>
            </a:r>
            <a:endParaRPr lang="en-US" sz="1400" dirty="0"/>
          </a:p>
        </p:txBody>
      </p:sp>
      <p:sp>
        <p:nvSpPr>
          <p:cNvPr id="15" name="Text 13"/>
          <p:cNvSpPr/>
          <p:nvPr/>
        </p:nvSpPr>
        <p:spPr>
          <a:xfrm>
            <a:off x="4297680"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"Prepare a mid-year business review for [Region]. Using /[Region_Financials.xlsx], summarize revenue and operating-ratio performance by service center, shipment and weight trends, key wins and losses, share movements, and a 90-day action plan to close the gap to plan."</a:t>
            </a:r>
            <a:endParaRPr lang="en-US" sz="1050" dirty="0"/>
          </a:p>
        </p:txBody>
      </p:sp>
      <p:sp>
        <p:nvSpPr>
          <p:cNvPr id="16" name="Shape 14"/>
          <p:cNvSpPr/>
          <p:nvPr/>
        </p:nvSpPr>
        <p:spPr>
          <a:xfrm>
            <a:off x="8016088"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7" name="Shape 15"/>
          <p:cNvSpPr/>
          <p:nvPr/>
        </p:nvSpPr>
        <p:spPr>
          <a:xfrm>
            <a:off x="8016088"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8" name="Text 16"/>
          <p:cNvSpPr/>
          <p:nvPr/>
        </p:nvSpPr>
        <p:spPr>
          <a:xfrm>
            <a:off x="8016088"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9" name="Text 17"/>
          <p:cNvSpPr/>
          <p:nvPr/>
        </p:nvSpPr>
        <p:spPr>
          <a:xfrm>
            <a:off x="8701888"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New Service-Center Launch Plan</a:t>
            </a:r>
            <a:endParaRPr lang="en-US" sz="1400" dirty="0"/>
          </a:p>
        </p:txBody>
      </p:sp>
      <p:sp>
        <p:nvSpPr>
          <p:cNvPr id="20" name="Text 18"/>
          <p:cNvSpPr/>
          <p:nvPr/>
        </p:nvSpPr>
        <p:spPr>
          <a:xfrm>
            <a:off x="8244688"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"Create a 12-month plan for opening a new service center in [market]. Include lane and capacity targets, hiring and driver-staffing timeline, pricing and onboarding strategy for local accounts, dock and equipment readiness steps, and a risk register."</a:t>
            </a:r>
            <a:endParaRPr lang="en-US" sz="1050" dirty="0"/>
          </a:p>
        </p:txBody>
      </p:sp>
      <p:sp>
        <p:nvSpPr>
          <p:cNvPr id="21" name="Shape 19"/>
          <p:cNvSpPr/>
          <p:nvPr/>
        </p:nvSpPr>
        <p:spPr>
          <a:xfrm>
            <a:off x="4069080"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2" name="Shape 20"/>
          <p:cNvSpPr/>
          <p:nvPr/>
        </p:nvSpPr>
        <p:spPr>
          <a:xfrm>
            <a:off x="4069080"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3" name="Text 21"/>
          <p:cNvSpPr/>
          <p:nvPr/>
        </p:nvSpPr>
        <p:spPr>
          <a:xfrm>
            <a:off x="4069080"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4" name="Text 22"/>
          <p:cNvSpPr/>
          <p:nvPr/>
        </p:nvSpPr>
        <p:spPr>
          <a:xfrm>
            <a:off x="4754880"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Underperforming Lane Decision</a:t>
            </a:r>
            <a:endParaRPr lang="en-US" sz="1400" dirty="0"/>
          </a:p>
        </p:txBody>
      </p:sp>
      <p:sp>
        <p:nvSpPr>
          <p:cNvPr id="25" name="Text 23"/>
          <p:cNvSpPr/>
          <p:nvPr/>
        </p:nvSpPr>
        <p:spPr>
          <a:xfrm>
            <a:off x="4297680"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"I need to assess whether to keep, reprice, or exit a low-margin lane. Using /[LaneProfitability.xlsx], analyze revenue and margin trajectory, customer concentration, network impact, strategic fit, and required investment. Recommend an action with explicit rationale for the regional leadership team."</a:t>
            </a:r>
            <a:endParaRPr lang="en-US" sz="1050" dirty="0"/>
          </a:p>
        </p:txBody>
      </p:sp>
      <p:sp>
        <p:nvSpPr>
          <p:cNvPr id="26" name="Shape 24"/>
          <p:cNvSpPr/>
          <p:nvPr/>
        </p:nvSpPr>
        <p:spPr>
          <a:xfrm>
            <a:off x="8016088"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7" name="Shape 25"/>
          <p:cNvSpPr/>
          <p:nvPr/>
        </p:nvSpPr>
        <p:spPr>
          <a:xfrm>
            <a:off x="8016088"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8" name="Text 26"/>
          <p:cNvSpPr/>
          <p:nvPr/>
        </p:nvSpPr>
        <p:spPr>
          <a:xfrm>
            <a:off x="8016088"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9" name="Text 27"/>
          <p:cNvSpPr/>
          <p:nvPr/>
        </p:nvSpPr>
        <p:spPr>
          <a:xfrm>
            <a:off x="8701888"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Top Customer Review Prep</a:t>
            </a:r>
            <a:endParaRPr lang="en-US" sz="1400" dirty="0"/>
          </a:p>
        </p:txBody>
      </p:sp>
      <p:sp>
        <p:nvSpPr>
          <p:cNvPr id="30" name="Text 28"/>
          <p:cNvSpPr/>
          <p:nvPr/>
        </p:nvSpPr>
        <p:spPr>
          <a:xfrm>
            <a:off x="8244688"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"Prepare materials for our quarterly review with a top regional account. Draft a service performance summary (on-time, claims, billing accuracy), a Zava Shipping capability showcase covering three service offerings, and three discussion questions designed to surface unmet needs and growth opportunities."</a:t>
            </a:r>
            <a:endParaRPr lang="en-US" sz="1050" dirty="0"/>
          </a:p>
        </p:txBody>
      </p:sp>
      <p:sp>
        <p:nvSpPr>
          <p:cNvPr id="31" name="Text 29"/>
          <p:cNvSpPr/>
          <p:nvPr/>
        </p:nvSpPr>
        <p:spPr>
          <a:xfrm>
            <a:off x="4069080" y="6492240"/>
            <a:ext cx="7848295"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Zava Shipping  |  Microsoft 365 Copilot Executive Prompt Guide  |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0854"/>
          </a:solidFill>
          <a:ln/>
        </p:spPr>
        <p:txBody>
          <a:bodyPr/>
          <a:lstStyle/>
          <a:p>
            <a:endParaRPr lang="en-US"/>
          </a:p>
        </p:txBody>
      </p:sp>
      <p:sp>
        <p:nvSpPr>
          <p:cNvPr id="3" name="Shape 1"/>
          <p:cNvSpPr/>
          <p:nvPr/>
        </p:nvSpPr>
        <p:spPr>
          <a:xfrm>
            <a:off x="3657600" y="0"/>
            <a:ext cx="54864" cy="6858000"/>
          </a:xfrm>
          <a:prstGeom prst="rect">
            <a:avLst/>
          </a:prstGeom>
          <a:solidFill>
            <a:srgbClr val="FF6600"/>
          </a:solidFill>
          <a:ln/>
        </p:spPr>
        <p:txBody>
          <a:bodyPr/>
          <a:lstStyle/>
          <a:p>
            <a:endParaRPr lang="en-US"/>
          </a:p>
        </p:txBody>
      </p:sp>
      <p:sp>
        <p:nvSpPr>
          <p:cNvPr id="4" name="Text 2"/>
          <p:cNvSpPr/>
          <p:nvPr/>
        </p:nvSpPr>
        <p:spPr>
          <a:xfrm>
            <a:off x="365760" y="411480"/>
            <a:ext cx="3108960" cy="320040"/>
          </a:xfrm>
          <a:prstGeom prst="rect">
            <a:avLst/>
          </a:prstGeom>
          <a:noFill/>
          <a:ln/>
        </p:spPr>
        <p:txBody>
          <a:bodyPr wrap="square" rtlCol="0" anchor="ctr"/>
          <a:lstStyle/>
          <a:p>
            <a:pPr marL="0" indent="0">
              <a:buNone/>
            </a:pPr>
            <a:r>
              <a:rPr lang="en-US" sz="1200" b="1" kern="0" spc="600" dirty="0">
                <a:solidFill>
                  <a:srgbClr val="FF6600"/>
                </a:solidFill>
                <a:latin typeface="Calibri" pitchFamily="34" charset="0"/>
                <a:ea typeface="Calibri" pitchFamily="34" charset="-122"/>
                <a:cs typeface="Calibri" pitchFamily="34" charset="-120"/>
              </a:rPr>
              <a:t>ZAVA SHIPPING</a:t>
            </a:r>
            <a:endParaRPr lang="en-US" sz="1200" dirty="0"/>
          </a:p>
        </p:txBody>
      </p:sp>
      <p:sp>
        <p:nvSpPr>
          <p:cNvPr id="5" name="Shape 3"/>
          <p:cNvSpPr/>
          <p:nvPr/>
        </p:nvSpPr>
        <p:spPr>
          <a:xfrm>
            <a:off x="365760" y="841248"/>
            <a:ext cx="914400" cy="36576"/>
          </a:xfrm>
          <a:prstGeom prst="rect">
            <a:avLst/>
          </a:prstGeom>
          <a:solidFill>
            <a:srgbClr val="C8102E"/>
          </a:solidFill>
          <a:ln/>
        </p:spPr>
        <p:txBody>
          <a:bodyPr/>
          <a:lstStyle/>
          <a:p>
            <a:endParaRPr lang="en-US"/>
          </a:p>
        </p:txBody>
      </p:sp>
      <p:sp>
        <p:nvSpPr>
          <p:cNvPr id="6" name="Text 4"/>
          <p:cNvSpPr/>
          <p:nvPr/>
        </p:nvSpPr>
        <p:spPr>
          <a:xfrm>
            <a:off x="365760" y="1143000"/>
            <a:ext cx="3108960" cy="13716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VP Sales &amp; Revenue Management</a:t>
            </a:r>
            <a:endParaRPr lang="en-US" sz="3000" dirty="0"/>
          </a:p>
        </p:txBody>
      </p:sp>
      <p:sp>
        <p:nvSpPr>
          <p:cNvPr id="7" name="Text 5"/>
          <p:cNvSpPr/>
          <p:nvPr/>
        </p:nvSpPr>
        <p:spPr>
          <a:xfrm>
            <a:off x="365760" y="2788920"/>
            <a:ext cx="3108960" cy="731520"/>
          </a:xfrm>
          <a:prstGeom prst="rect">
            <a:avLst/>
          </a:prstGeom>
          <a:noFill/>
          <a:ln/>
        </p:spPr>
        <p:txBody>
          <a:bodyPr wrap="square" rtlCol="0" anchor="ctr"/>
          <a:lstStyle/>
          <a:p>
            <a:pPr marL="0" indent="0">
              <a:buNone/>
            </a:pPr>
            <a:r>
              <a:rPr lang="en-US" sz="1250" i="1" dirty="0">
                <a:solidFill>
                  <a:srgbClr val="FF6600"/>
                </a:solidFill>
                <a:latin typeface="Calibri" pitchFamily="34" charset="0"/>
                <a:ea typeface="Calibri" pitchFamily="34" charset="-122"/>
                <a:cs typeface="Calibri" pitchFamily="34" charset="-120"/>
              </a:rPr>
              <a:t>Account strategy  |  Pricing &amp; yield</a:t>
            </a:r>
            <a:endParaRPr lang="en-US" sz="1250" dirty="0"/>
          </a:p>
          <a:p>
            <a:pPr marL="0" indent="0">
              <a:buNone/>
            </a:pPr>
            <a:r>
              <a:rPr lang="en-US" sz="1250" i="1" dirty="0">
                <a:solidFill>
                  <a:srgbClr val="FF6600"/>
                </a:solidFill>
                <a:latin typeface="Calibri" pitchFamily="34" charset="0"/>
                <a:ea typeface="Calibri" pitchFamily="34" charset="-122"/>
                <a:cs typeface="Calibri" pitchFamily="34" charset="-120"/>
              </a:rPr>
              <a:t>Competitive wins  |  Revenue quality</a:t>
            </a:r>
            <a:endParaRPr lang="en-US" sz="1250" dirty="0"/>
          </a:p>
        </p:txBody>
      </p:sp>
      <p:sp>
        <p:nvSpPr>
          <p:cNvPr id="8" name="Shape 6"/>
          <p:cNvSpPr/>
          <p:nvPr/>
        </p:nvSpPr>
        <p:spPr>
          <a:xfrm>
            <a:off x="365760" y="3749040"/>
            <a:ext cx="457200" cy="36576"/>
          </a:xfrm>
          <a:prstGeom prst="rect">
            <a:avLst/>
          </a:prstGeom>
          <a:solidFill>
            <a:srgbClr val="C8102E"/>
          </a:solidFill>
          <a:ln/>
        </p:spPr>
        <p:txBody>
          <a:bodyPr/>
          <a:lstStyle/>
          <a:p>
            <a:endParaRPr lang="en-US"/>
          </a:p>
        </p:txBody>
      </p:sp>
      <p:sp>
        <p:nvSpPr>
          <p:cNvPr id="9" name="Text 7"/>
          <p:cNvSpPr/>
          <p:nvPr/>
        </p:nvSpPr>
        <p:spPr>
          <a:xfrm>
            <a:off x="365760" y="3886200"/>
            <a:ext cx="3108960" cy="18288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Zava Shipping's commercial leaders sell reliability, national coverage, and supply-chain confidence — not capacity at any price. These prompts sharpen proposals, competitive displacement plays, and customer interactions across shippers, 3PLs, and national accounts.</a:t>
            </a:r>
            <a:endParaRPr lang="en-US" sz="1150" dirty="0"/>
          </a:p>
        </p:txBody>
      </p:sp>
      <p:sp>
        <p:nvSpPr>
          <p:cNvPr id="10" name="Text 8"/>
          <p:cNvSpPr/>
          <p:nvPr/>
        </p:nvSpPr>
        <p:spPr>
          <a:xfrm>
            <a:off x="365760" y="6263640"/>
            <a:ext cx="3108960" cy="274320"/>
          </a:xfrm>
          <a:prstGeom prst="rect">
            <a:avLst/>
          </a:prstGeom>
          <a:noFill/>
          <a:ln/>
        </p:spPr>
        <p:txBody>
          <a:bodyPr wrap="square" rtlCol="0" anchor="ctr"/>
          <a:lstStyle/>
          <a:p>
            <a:pPr marL="0" indent="0">
              <a:buNone/>
            </a:pPr>
            <a:r>
              <a:rPr lang="en-US" sz="1000" i="1" dirty="0">
                <a:solidFill>
                  <a:srgbClr val="FF6600"/>
                </a:solidFill>
                <a:latin typeface="Calibri" pitchFamily="34" charset="0"/>
                <a:ea typeface="Calibri" pitchFamily="34" charset="-122"/>
                <a:cs typeface="Calibri" pitchFamily="34" charset="-120"/>
              </a:rPr>
              <a:t>Microsoft 365 Copilot Chat</a:t>
            </a:r>
            <a:endParaRPr lang="en-US" sz="1000" dirty="0"/>
          </a:p>
        </p:txBody>
      </p:sp>
      <p:sp>
        <p:nvSpPr>
          <p:cNvPr id="11" name="Shape 9"/>
          <p:cNvSpPr/>
          <p:nvPr/>
        </p:nvSpPr>
        <p:spPr>
          <a:xfrm>
            <a:off x="4069080"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2" name="Shape 10"/>
          <p:cNvSpPr/>
          <p:nvPr/>
        </p:nvSpPr>
        <p:spPr>
          <a:xfrm>
            <a:off x="4069080"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3" name="Text 11"/>
          <p:cNvSpPr/>
          <p:nvPr/>
        </p:nvSpPr>
        <p:spPr>
          <a:xfrm>
            <a:off x="4069080"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4" name="Text 12"/>
          <p:cNvSpPr/>
          <p:nvPr/>
        </p:nvSpPr>
        <p:spPr>
          <a:xfrm>
            <a:off x="4754880"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National Account Proposal</a:t>
            </a:r>
            <a:endParaRPr lang="en-US" sz="1400" dirty="0"/>
          </a:p>
        </p:txBody>
      </p:sp>
      <p:sp>
        <p:nvSpPr>
          <p:cNvPr id="15" name="Text 13"/>
          <p:cNvSpPr/>
          <p:nvPr/>
        </p:nvSpPr>
        <p:spPr>
          <a:xfrm>
            <a:off x="4297680"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"Create a sales proposal for a national shipper evaluating Zava Shipping for their LTL program. Include service differentiation versus our top competitor, transit-time and coverage advantages, claims and reliability performance, and a total-landed-cost analysis across their primary lanes."</a:t>
            </a:r>
            <a:endParaRPr lang="en-US" sz="1050" dirty="0"/>
          </a:p>
        </p:txBody>
      </p:sp>
      <p:sp>
        <p:nvSpPr>
          <p:cNvPr id="16" name="Shape 14"/>
          <p:cNvSpPr/>
          <p:nvPr/>
        </p:nvSpPr>
        <p:spPr>
          <a:xfrm>
            <a:off x="8016088"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7" name="Shape 15"/>
          <p:cNvSpPr/>
          <p:nvPr/>
        </p:nvSpPr>
        <p:spPr>
          <a:xfrm>
            <a:off x="8016088"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8" name="Text 16"/>
          <p:cNvSpPr/>
          <p:nvPr/>
        </p:nvSpPr>
        <p:spPr>
          <a:xfrm>
            <a:off x="8016088"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9" name="Text 17"/>
          <p:cNvSpPr/>
          <p:nvPr/>
        </p:nvSpPr>
        <p:spPr>
          <a:xfrm>
            <a:off x="8701888"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Competitive Displacement Play</a:t>
            </a:r>
            <a:endParaRPr lang="en-US" sz="1400" dirty="0"/>
          </a:p>
        </p:txBody>
      </p:sp>
      <p:sp>
        <p:nvSpPr>
          <p:cNvPr id="20" name="Text 18"/>
          <p:cNvSpPr/>
          <p:nvPr/>
        </p:nvSpPr>
        <p:spPr>
          <a:xfrm>
            <a:off x="8244688"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"I'm pursuing a competitive displacement opportunity at a Tier 1 manufacturer currently using a competitor's LTL carrier. Research [Competitor]'s service and create a head-to-head comparison covering transit time, network coverage, on-time performance, pricing structure, and digital tools versus Zava Shipping."</a:t>
            </a:r>
            <a:endParaRPr lang="en-US" sz="1050" dirty="0"/>
          </a:p>
        </p:txBody>
      </p:sp>
      <p:sp>
        <p:nvSpPr>
          <p:cNvPr id="21" name="Shape 19"/>
          <p:cNvSpPr/>
          <p:nvPr/>
        </p:nvSpPr>
        <p:spPr>
          <a:xfrm>
            <a:off x="4069080"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2" name="Shape 20"/>
          <p:cNvSpPr/>
          <p:nvPr/>
        </p:nvSpPr>
        <p:spPr>
          <a:xfrm>
            <a:off x="4069080"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3" name="Text 21"/>
          <p:cNvSpPr/>
          <p:nvPr/>
        </p:nvSpPr>
        <p:spPr>
          <a:xfrm>
            <a:off x="4069080"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4" name="Text 22"/>
          <p:cNvSpPr/>
          <p:nvPr/>
        </p:nvSpPr>
        <p:spPr>
          <a:xfrm>
            <a:off x="4754880"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Strategic Account Discovery</a:t>
            </a:r>
            <a:endParaRPr lang="en-US" sz="1400" dirty="0"/>
          </a:p>
        </p:txBody>
      </p:sp>
      <p:sp>
        <p:nvSpPr>
          <p:cNvPr id="25" name="Text 23"/>
          <p:cNvSpPr/>
          <p:nvPr/>
        </p:nvSpPr>
        <p:spPr>
          <a:xfrm>
            <a:off x="4297680"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"Review /[CustomerProfile.pdf] for [Customer Name]. Generate eight strategic discovery questions that will uncover their pain points around transit reliability, freight damage, billing accuracy, capacity assurance, and supply-chain visibility. Format for use in a 45-minute QBR."</a:t>
            </a:r>
            <a:endParaRPr lang="en-US" sz="1050" dirty="0"/>
          </a:p>
        </p:txBody>
      </p:sp>
      <p:sp>
        <p:nvSpPr>
          <p:cNvPr id="26" name="Shape 24"/>
          <p:cNvSpPr/>
          <p:nvPr/>
        </p:nvSpPr>
        <p:spPr>
          <a:xfrm>
            <a:off x="8016088"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7" name="Shape 25"/>
          <p:cNvSpPr/>
          <p:nvPr/>
        </p:nvSpPr>
        <p:spPr>
          <a:xfrm>
            <a:off x="8016088"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8" name="Text 26"/>
          <p:cNvSpPr/>
          <p:nvPr/>
        </p:nvSpPr>
        <p:spPr>
          <a:xfrm>
            <a:off x="8016088"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9" name="Text 27"/>
          <p:cNvSpPr/>
          <p:nvPr/>
        </p:nvSpPr>
        <p:spPr>
          <a:xfrm>
            <a:off x="8701888"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Trade-Show Follow-Up</a:t>
            </a:r>
            <a:endParaRPr lang="en-US" sz="1400" dirty="0"/>
          </a:p>
        </p:txBody>
      </p:sp>
      <p:sp>
        <p:nvSpPr>
          <p:cNvPr id="30" name="Text 28"/>
          <p:cNvSpPr/>
          <p:nvPr/>
        </p:nvSpPr>
        <p:spPr>
          <a:xfrm>
            <a:off x="8244688"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"Draft a follow-up email to the VP of Logistics at a top-100 shipper who visited our booth at the Manifest supply-chain conference. Reference our network density and reliability advantages, acknowledge their service-quality priorities, and propose a 60-minute lane-review workshop within 30 days."</a:t>
            </a:r>
            <a:endParaRPr lang="en-US" sz="1050" dirty="0"/>
          </a:p>
        </p:txBody>
      </p:sp>
      <p:sp>
        <p:nvSpPr>
          <p:cNvPr id="31" name="Text 29"/>
          <p:cNvSpPr/>
          <p:nvPr/>
        </p:nvSpPr>
        <p:spPr>
          <a:xfrm>
            <a:off x="4069080" y="6492240"/>
            <a:ext cx="7848295"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Zava Shipping  |  Microsoft 365 Copilot Executive Prompt Guide  |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0854"/>
          </a:solidFill>
          <a:ln/>
        </p:spPr>
        <p:txBody>
          <a:bodyPr/>
          <a:lstStyle/>
          <a:p>
            <a:endParaRPr lang="en-US"/>
          </a:p>
        </p:txBody>
      </p:sp>
      <p:sp>
        <p:nvSpPr>
          <p:cNvPr id="3" name="Shape 1"/>
          <p:cNvSpPr/>
          <p:nvPr/>
        </p:nvSpPr>
        <p:spPr>
          <a:xfrm>
            <a:off x="3657600" y="0"/>
            <a:ext cx="54864" cy="6858000"/>
          </a:xfrm>
          <a:prstGeom prst="rect">
            <a:avLst/>
          </a:prstGeom>
          <a:solidFill>
            <a:srgbClr val="FF6600"/>
          </a:solidFill>
          <a:ln/>
        </p:spPr>
        <p:txBody>
          <a:bodyPr/>
          <a:lstStyle/>
          <a:p>
            <a:endParaRPr lang="en-US"/>
          </a:p>
        </p:txBody>
      </p:sp>
      <p:sp>
        <p:nvSpPr>
          <p:cNvPr id="4" name="Text 2"/>
          <p:cNvSpPr/>
          <p:nvPr/>
        </p:nvSpPr>
        <p:spPr>
          <a:xfrm>
            <a:off x="365760" y="411480"/>
            <a:ext cx="3108960" cy="320040"/>
          </a:xfrm>
          <a:prstGeom prst="rect">
            <a:avLst/>
          </a:prstGeom>
          <a:noFill/>
          <a:ln/>
        </p:spPr>
        <p:txBody>
          <a:bodyPr wrap="square" rtlCol="0" anchor="ctr"/>
          <a:lstStyle/>
          <a:p>
            <a:pPr marL="0" indent="0">
              <a:buNone/>
            </a:pPr>
            <a:r>
              <a:rPr lang="en-US" sz="1200" b="1" kern="0" spc="600" dirty="0">
                <a:solidFill>
                  <a:srgbClr val="FF6600"/>
                </a:solidFill>
                <a:latin typeface="Calibri" pitchFamily="34" charset="0"/>
                <a:ea typeface="Calibri" pitchFamily="34" charset="-122"/>
                <a:cs typeface="Calibri" pitchFamily="34" charset="-120"/>
              </a:rPr>
              <a:t>ZAVA SHIPPING</a:t>
            </a:r>
            <a:endParaRPr lang="en-US" sz="1200" dirty="0"/>
          </a:p>
        </p:txBody>
      </p:sp>
      <p:sp>
        <p:nvSpPr>
          <p:cNvPr id="5" name="Shape 3"/>
          <p:cNvSpPr/>
          <p:nvPr/>
        </p:nvSpPr>
        <p:spPr>
          <a:xfrm>
            <a:off x="365760" y="841248"/>
            <a:ext cx="914400" cy="36576"/>
          </a:xfrm>
          <a:prstGeom prst="rect">
            <a:avLst/>
          </a:prstGeom>
          <a:solidFill>
            <a:srgbClr val="C8102E"/>
          </a:solidFill>
          <a:ln/>
        </p:spPr>
        <p:txBody>
          <a:bodyPr/>
          <a:lstStyle/>
          <a:p>
            <a:endParaRPr lang="en-US"/>
          </a:p>
        </p:txBody>
      </p:sp>
      <p:sp>
        <p:nvSpPr>
          <p:cNvPr id="6" name="Text 4"/>
          <p:cNvSpPr/>
          <p:nvPr/>
        </p:nvSpPr>
        <p:spPr>
          <a:xfrm>
            <a:off x="365760" y="1143000"/>
            <a:ext cx="3108960" cy="13716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VP Fleet, Maintenance &amp; Equipment</a:t>
            </a:r>
            <a:endParaRPr lang="en-US" sz="3000" dirty="0"/>
          </a:p>
        </p:txBody>
      </p:sp>
      <p:sp>
        <p:nvSpPr>
          <p:cNvPr id="7" name="Text 5"/>
          <p:cNvSpPr/>
          <p:nvPr/>
        </p:nvSpPr>
        <p:spPr>
          <a:xfrm>
            <a:off x="365760" y="2788920"/>
            <a:ext cx="3108960" cy="731520"/>
          </a:xfrm>
          <a:prstGeom prst="rect">
            <a:avLst/>
          </a:prstGeom>
          <a:noFill/>
          <a:ln/>
        </p:spPr>
        <p:txBody>
          <a:bodyPr wrap="square" rtlCol="0" anchor="ctr"/>
          <a:lstStyle/>
          <a:p>
            <a:pPr marL="0" indent="0">
              <a:buNone/>
            </a:pPr>
            <a:r>
              <a:rPr lang="en-US" sz="1250" i="1" dirty="0">
                <a:solidFill>
                  <a:srgbClr val="FF6600"/>
                </a:solidFill>
                <a:latin typeface="Calibri" pitchFamily="34" charset="0"/>
                <a:ea typeface="Calibri" pitchFamily="34" charset="-122"/>
                <a:cs typeface="Calibri" pitchFamily="34" charset="-120"/>
              </a:rPr>
              <a:t>Tractor &amp; trailer fleet  |  Maintenance</a:t>
            </a:r>
            <a:endParaRPr lang="en-US" sz="1250" dirty="0"/>
          </a:p>
          <a:p>
            <a:pPr marL="0" indent="0">
              <a:buNone/>
            </a:pPr>
            <a:r>
              <a:rPr lang="en-US" sz="1250" i="1" dirty="0">
                <a:solidFill>
                  <a:srgbClr val="FF6600"/>
                </a:solidFill>
                <a:latin typeface="Calibri" pitchFamily="34" charset="0"/>
                <a:ea typeface="Calibri" pitchFamily="34" charset="-122"/>
                <a:cs typeface="Calibri" pitchFamily="34" charset="-120"/>
              </a:rPr>
              <a:t>Equipment sourcing  |  Uptime</a:t>
            </a:r>
            <a:endParaRPr lang="en-US" sz="1250" dirty="0"/>
          </a:p>
        </p:txBody>
      </p:sp>
      <p:sp>
        <p:nvSpPr>
          <p:cNvPr id="8" name="Shape 6"/>
          <p:cNvSpPr/>
          <p:nvPr/>
        </p:nvSpPr>
        <p:spPr>
          <a:xfrm>
            <a:off x="365760" y="3749040"/>
            <a:ext cx="457200" cy="36576"/>
          </a:xfrm>
          <a:prstGeom prst="rect">
            <a:avLst/>
          </a:prstGeom>
          <a:solidFill>
            <a:srgbClr val="C8102E"/>
          </a:solidFill>
          <a:ln/>
        </p:spPr>
        <p:txBody>
          <a:bodyPr/>
          <a:lstStyle/>
          <a:p>
            <a:endParaRPr lang="en-US"/>
          </a:p>
        </p:txBody>
      </p:sp>
      <p:sp>
        <p:nvSpPr>
          <p:cNvPr id="9" name="Text 7"/>
          <p:cNvSpPr/>
          <p:nvPr/>
        </p:nvSpPr>
        <p:spPr>
          <a:xfrm>
            <a:off x="365760" y="3886200"/>
            <a:ext cx="3108960" cy="18288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Zava Shipping's fleet of tractors and trailers is its most capital-intensive asset and the engine of service. These prompts help fleet leaders manage cost, uptime, and the rising sustainability expectations of customers and regulators across hundreds of locations.</a:t>
            </a:r>
            <a:endParaRPr lang="en-US" sz="1150" dirty="0"/>
          </a:p>
        </p:txBody>
      </p:sp>
      <p:sp>
        <p:nvSpPr>
          <p:cNvPr id="10" name="Text 8"/>
          <p:cNvSpPr/>
          <p:nvPr/>
        </p:nvSpPr>
        <p:spPr>
          <a:xfrm>
            <a:off x="365760" y="6263640"/>
            <a:ext cx="3108960" cy="274320"/>
          </a:xfrm>
          <a:prstGeom prst="rect">
            <a:avLst/>
          </a:prstGeom>
          <a:noFill/>
          <a:ln/>
        </p:spPr>
        <p:txBody>
          <a:bodyPr wrap="square" rtlCol="0" anchor="ctr"/>
          <a:lstStyle/>
          <a:p>
            <a:pPr marL="0" indent="0">
              <a:buNone/>
            </a:pPr>
            <a:r>
              <a:rPr lang="en-US" sz="1000" i="1" dirty="0">
                <a:solidFill>
                  <a:srgbClr val="FF6600"/>
                </a:solidFill>
                <a:latin typeface="Calibri" pitchFamily="34" charset="0"/>
                <a:ea typeface="Calibri" pitchFamily="34" charset="-122"/>
                <a:cs typeface="Calibri" pitchFamily="34" charset="-120"/>
              </a:rPr>
              <a:t>Microsoft 365 Copilot Chat</a:t>
            </a:r>
            <a:endParaRPr lang="en-US" sz="1000" dirty="0"/>
          </a:p>
        </p:txBody>
      </p:sp>
      <p:sp>
        <p:nvSpPr>
          <p:cNvPr id="11" name="Shape 9"/>
          <p:cNvSpPr/>
          <p:nvPr/>
        </p:nvSpPr>
        <p:spPr>
          <a:xfrm>
            <a:off x="4069080"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2" name="Shape 10"/>
          <p:cNvSpPr/>
          <p:nvPr/>
        </p:nvSpPr>
        <p:spPr>
          <a:xfrm>
            <a:off x="4069080"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3" name="Text 11"/>
          <p:cNvSpPr/>
          <p:nvPr/>
        </p:nvSpPr>
        <p:spPr>
          <a:xfrm>
            <a:off x="4069080"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4" name="Text 12"/>
          <p:cNvSpPr/>
          <p:nvPr/>
        </p:nvSpPr>
        <p:spPr>
          <a:xfrm>
            <a:off x="4754880"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Critical Supplier Risk Map</a:t>
            </a:r>
            <a:endParaRPr lang="en-US" sz="1400" dirty="0"/>
          </a:p>
        </p:txBody>
      </p:sp>
      <p:sp>
        <p:nvSpPr>
          <p:cNvPr id="15" name="Text 13"/>
          <p:cNvSpPr/>
          <p:nvPr/>
        </p:nvSpPr>
        <p:spPr>
          <a:xfrm>
            <a:off x="4297680"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"Assess supply risk for our top 25 critical equipment and parts suppliers across tractors, trailers, tires, and components. Use /[Supplier_Scorecard.xlsx] to flag single-source dependencies, lead-time exposure, financial health, and ESG compliance gaps. Recommend dual-sourcing priorities and qualification timelines."</a:t>
            </a:r>
            <a:endParaRPr lang="en-US" sz="1050" dirty="0"/>
          </a:p>
        </p:txBody>
      </p:sp>
      <p:sp>
        <p:nvSpPr>
          <p:cNvPr id="16" name="Shape 14"/>
          <p:cNvSpPr/>
          <p:nvPr/>
        </p:nvSpPr>
        <p:spPr>
          <a:xfrm>
            <a:off x="8016088"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7" name="Shape 15"/>
          <p:cNvSpPr/>
          <p:nvPr/>
        </p:nvSpPr>
        <p:spPr>
          <a:xfrm>
            <a:off x="8016088"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8" name="Text 16"/>
          <p:cNvSpPr/>
          <p:nvPr/>
        </p:nvSpPr>
        <p:spPr>
          <a:xfrm>
            <a:off x="8016088"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9" name="Text 17"/>
          <p:cNvSpPr/>
          <p:nvPr/>
        </p:nvSpPr>
        <p:spPr>
          <a:xfrm>
            <a:off x="8701888"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Maintenance Cost Reduction</a:t>
            </a:r>
            <a:endParaRPr lang="en-US" sz="1400" dirty="0"/>
          </a:p>
        </p:txBody>
      </p:sp>
      <p:sp>
        <p:nvSpPr>
          <p:cNvPr id="20" name="Text 18"/>
          <p:cNvSpPr/>
          <p:nvPr/>
        </p:nvSpPr>
        <p:spPr>
          <a:xfrm>
            <a:off x="8244688"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"I need to reduce fleet maintenance cost per mile by 10% across our North American fleet without compromising uptime or DOT compliance. Review /[Maintenance_Spend.xlsx] and recommend preventive-maintenance interval changes, parts standardization, and in-house-vs-vendor tradeoffs with quantified savings."</a:t>
            </a:r>
            <a:endParaRPr lang="en-US" sz="1050" dirty="0"/>
          </a:p>
        </p:txBody>
      </p:sp>
      <p:sp>
        <p:nvSpPr>
          <p:cNvPr id="21" name="Shape 19"/>
          <p:cNvSpPr/>
          <p:nvPr/>
        </p:nvSpPr>
        <p:spPr>
          <a:xfrm>
            <a:off x="4069080"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2" name="Shape 20"/>
          <p:cNvSpPr/>
          <p:nvPr/>
        </p:nvSpPr>
        <p:spPr>
          <a:xfrm>
            <a:off x="4069080"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3" name="Text 21"/>
          <p:cNvSpPr/>
          <p:nvPr/>
        </p:nvSpPr>
        <p:spPr>
          <a:xfrm>
            <a:off x="4069080"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4" name="Text 22"/>
          <p:cNvSpPr/>
          <p:nvPr/>
        </p:nvSpPr>
        <p:spPr>
          <a:xfrm>
            <a:off x="4754880"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Trailer Pool Optimization</a:t>
            </a:r>
            <a:endParaRPr lang="en-US" sz="1400" dirty="0"/>
          </a:p>
        </p:txBody>
      </p:sp>
      <p:sp>
        <p:nvSpPr>
          <p:cNvPr id="25" name="Text 23"/>
          <p:cNvSpPr/>
          <p:nvPr/>
        </p:nvSpPr>
        <p:spPr>
          <a:xfrm>
            <a:off x="4297680"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"Create a quarterly trailer-pool optimization plan for our network. Factor in lane imbalances, seasonal demand, and dwell at high-volume service centers. Recommend repositioning priorities and pool sizing by region, with explicit callouts for specialized and temperature-controlled equipment constraints."</a:t>
            </a:r>
            <a:endParaRPr lang="en-US" sz="1050" dirty="0"/>
          </a:p>
        </p:txBody>
      </p:sp>
      <p:sp>
        <p:nvSpPr>
          <p:cNvPr id="26" name="Shape 24"/>
          <p:cNvSpPr/>
          <p:nvPr/>
        </p:nvSpPr>
        <p:spPr>
          <a:xfrm>
            <a:off x="8016088"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7" name="Shape 25"/>
          <p:cNvSpPr/>
          <p:nvPr/>
        </p:nvSpPr>
        <p:spPr>
          <a:xfrm>
            <a:off x="8016088"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8" name="Text 26"/>
          <p:cNvSpPr/>
          <p:nvPr/>
        </p:nvSpPr>
        <p:spPr>
          <a:xfrm>
            <a:off x="8016088"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9" name="Text 27"/>
          <p:cNvSpPr/>
          <p:nvPr/>
        </p:nvSpPr>
        <p:spPr>
          <a:xfrm>
            <a:off x="8701888"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Alternative-Fuel Fleet Request</a:t>
            </a:r>
            <a:endParaRPr lang="en-US" sz="1400" dirty="0"/>
          </a:p>
        </p:txBody>
      </p:sp>
      <p:sp>
        <p:nvSpPr>
          <p:cNvPr id="30" name="Text 28"/>
          <p:cNvSpPr/>
          <p:nvPr/>
        </p:nvSpPr>
        <p:spPr>
          <a:xfrm>
            <a:off x="8244688"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"Draft a communication to our top equipment manufacturers requesting roadmap data on electric and alternative-fuel tractors, total-cost-of-ownership models, charging/fueling infrastructure requirements, and availability timelines as part of Zava Shipping's sustainability commitments. Include a timeline for response."</a:t>
            </a:r>
            <a:endParaRPr lang="en-US" sz="1050" dirty="0"/>
          </a:p>
        </p:txBody>
      </p:sp>
      <p:sp>
        <p:nvSpPr>
          <p:cNvPr id="31" name="Text 29"/>
          <p:cNvSpPr/>
          <p:nvPr/>
        </p:nvSpPr>
        <p:spPr>
          <a:xfrm>
            <a:off x="4069080" y="6492240"/>
            <a:ext cx="7848295"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Zava Shipping  |  Microsoft 365 Copilot Executive Prompt Guide  |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0854"/>
          </a:solidFill>
          <a:ln/>
        </p:spPr>
        <p:txBody>
          <a:bodyPr/>
          <a:lstStyle/>
          <a:p>
            <a:endParaRPr lang="en-US"/>
          </a:p>
        </p:txBody>
      </p:sp>
      <p:sp>
        <p:nvSpPr>
          <p:cNvPr id="3" name="Shape 1"/>
          <p:cNvSpPr/>
          <p:nvPr/>
        </p:nvSpPr>
        <p:spPr>
          <a:xfrm>
            <a:off x="3657600" y="0"/>
            <a:ext cx="54864" cy="6858000"/>
          </a:xfrm>
          <a:prstGeom prst="rect">
            <a:avLst/>
          </a:prstGeom>
          <a:solidFill>
            <a:srgbClr val="FF6600"/>
          </a:solidFill>
          <a:ln/>
        </p:spPr>
        <p:txBody>
          <a:bodyPr/>
          <a:lstStyle/>
          <a:p>
            <a:endParaRPr lang="en-US"/>
          </a:p>
        </p:txBody>
      </p:sp>
      <p:sp>
        <p:nvSpPr>
          <p:cNvPr id="4" name="Text 2"/>
          <p:cNvSpPr/>
          <p:nvPr/>
        </p:nvSpPr>
        <p:spPr>
          <a:xfrm>
            <a:off x="365760" y="411480"/>
            <a:ext cx="3108960" cy="320040"/>
          </a:xfrm>
          <a:prstGeom prst="rect">
            <a:avLst/>
          </a:prstGeom>
          <a:noFill/>
          <a:ln/>
        </p:spPr>
        <p:txBody>
          <a:bodyPr wrap="square" rtlCol="0" anchor="ctr"/>
          <a:lstStyle/>
          <a:p>
            <a:pPr marL="0" indent="0">
              <a:buNone/>
            </a:pPr>
            <a:r>
              <a:rPr lang="en-US" sz="1200" b="1" kern="0" spc="600" dirty="0">
                <a:solidFill>
                  <a:srgbClr val="FF6600"/>
                </a:solidFill>
                <a:latin typeface="Calibri" pitchFamily="34" charset="0"/>
                <a:ea typeface="Calibri" pitchFamily="34" charset="-122"/>
                <a:cs typeface="Calibri" pitchFamily="34" charset="-120"/>
              </a:rPr>
              <a:t>ZAVA SHIPPING</a:t>
            </a:r>
            <a:endParaRPr lang="en-US" sz="1200" dirty="0"/>
          </a:p>
        </p:txBody>
      </p:sp>
      <p:sp>
        <p:nvSpPr>
          <p:cNvPr id="5" name="Shape 3"/>
          <p:cNvSpPr/>
          <p:nvPr/>
        </p:nvSpPr>
        <p:spPr>
          <a:xfrm>
            <a:off x="365760" y="841248"/>
            <a:ext cx="914400" cy="36576"/>
          </a:xfrm>
          <a:prstGeom prst="rect">
            <a:avLst/>
          </a:prstGeom>
          <a:solidFill>
            <a:srgbClr val="C8102E"/>
          </a:solidFill>
          <a:ln/>
        </p:spPr>
        <p:txBody>
          <a:bodyPr/>
          <a:lstStyle/>
          <a:p>
            <a:endParaRPr lang="en-US"/>
          </a:p>
        </p:txBody>
      </p:sp>
      <p:sp>
        <p:nvSpPr>
          <p:cNvPr id="6" name="Text 4"/>
          <p:cNvSpPr/>
          <p:nvPr/>
        </p:nvSpPr>
        <p:spPr>
          <a:xfrm>
            <a:off x="365760" y="1143000"/>
            <a:ext cx="3108960" cy="13716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VP Safety, Security &amp; Compliance</a:t>
            </a:r>
            <a:endParaRPr lang="en-US" sz="3000" dirty="0"/>
          </a:p>
        </p:txBody>
      </p:sp>
      <p:sp>
        <p:nvSpPr>
          <p:cNvPr id="7" name="Text 5"/>
          <p:cNvSpPr/>
          <p:nvPr/>
        </p:nvSpPr>
        <p:spPr>
          <a:xfrm>
            <a:off x="365760" y="2788920"/>
            <a:ext cx="3108960" cy="731520"/>
          </a:xfrm>
          <a:prstGeom prst="rect">
            <a:avLst/>
          </a:prstGeom>
          <a:noFill/>
          <a:ln/>
        </p:spPr>
        <p:txBody>
          <a:bodyPr wrap="square" rtlCol="0" anchor="ctr"/>
          <a:lstStyle/>
          <a:p>
            <a:pPr marL="0" indent="0">
              <a:buNone/>
            </a:pPr>
            <a:r>
              <a:rPr lang="en-US" sz="1250" i="1" dirty="0">
                <a:solidFill>
                  <a:srgbClr val="FF6600"/>
                </a:solidFill>
                <a:latin typeface="Calibri" pitchFamily="34" charset="0"/>
                <a:ea typeface="Calibri" pitchFamily="34" charset="-122"/>
                <a:cs typeface="Calibri" pitchFamily="34" charset="-120"/>
              </a:rPr>
              <a:t>Driver &amp; dock safety  |  DOT/FMCSA</a:t>
            </a:r>
            <a:endParaRPr lang="en-US" sz="1250" dirty="0"/>
          </a:p>
          <a:p>
            <a:pPr marL="0" indent="0">
              <a:buNone/>
            </a:pPr>
            <a:r>
              <a:rPr lang="en-US" sz="1250" i="1" dirty="0">
                <a:solidFill>
                  <a:srgbClr val="FF6600"/>
                </a:solidFill>
                <a:latin typeface="Calibri" pitchFamily="34" charset="0"/>
                <a:ea typeface="Calibri" pitchFamily="34" charset="-122"/>
                <a:cs typeface="Calibri" pitchFamily="34" charset="-120"/>
              </a:rPr>
              <a:t>Cargo security  |  Regulatory readiness</a:t>
            </a:r>
            <a:endParaRPr lang="en-US" sz="1250" dirty="0"/>
          </a:p>
        </p:txBody>
      </p:sp>
      <p:sp>
        <p:nvSpPr>
          <p:cNvPr id="8" name="Shape 6"/>
          <p:cNvSpPr/>
          <p:nvPr/>
        </p:nvSpPr>
        <p:spPr>
          <a:xfrm>
            <a:off x="365760" y="3749040"/>
            <a:ext cx="457200" cy="36576"/>
          </a:xfrm>
          <a:prstGeom prst="rect">
            <a:avLst/>
          </a:prstGeom>
          <a:solidFill>
            <a:srgbClr val="C8102E"/>
          </a:solidFill>
          <a:ln/>
        </p:spPr>
        <p:txBody>
          <a:bodyPr/>
          <a:lstStyle/>
          <a:p>
            <a:endParaRPr lang="en-US"/>
          </a:p>
        </p:txBody>
      </p:sp>
      <p:sp>
        <p:nvSpPr>
          <p:cNvPr id="9" name="Text 7"/>
          <p:cNvSpPr/>
          <p:nvPr/>
        </p:nvSpPr>
        <p:spPr>
          <a:xfrm>
            <a:off x="365760" y="3886200"/>
            <a:ext cx="3108960" cy="18288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Safety is Zava Shipping's first commitment — to its drivers, dock teams, and the motoring public. These prompts help safety leaders connect location-level performance to enterprise DOT, FMCSA, and security commitments without losing line-of-sight to the driver behind the wheel.</a:t>
            </a:r>
            <a:endParaRPr lang="en-US" sz="1150" dirty="0"/>
          </a:p>
        </p:txBody>
      </p:sp>
      <p:sp>
        <p:nvSpPr>
          <p:cNvPr id="10" name="Text 8"/>
          <p:cNvSpPr/>
          <p:nvPr/>
        </p:nvSpPr>
        <p:spPr>
          <a:xfrm>
            <a:off x="365760" y="6263640"/>
            <a:ext cx="3108960" cy="274320"/>
          </a:xfrm>
          <a:prstGeom prst="rect">
            <a:avLst/>
          </a:prstGeom>
          <a:noFill/>
          <a:ln/>
        </p:spPr>
        <p:txBody>
          <a:bodyPr wrap="square" rtlCol="0" anchor="ctr"/>
          <a:lstStyle/>
          <a:p>
            <a:pPr marL="0" indent="0">
              <a:buNone/>
            </a:pPr>
            <a:r>
              <a:rPr lang="en-US" sz="1000" i="1" dirty="0">
                <a:solidFill>
                  <a:srgbClr val="FF6600"/>
                </a:solidFill>
                <a:latin typeface="Calibri" pitchFamily="34" charset="0"/>
                <a:ea typeface="Calibri" pitchFamily="34" charset="-122"/>
                <a:cs typeface="Calibri" pitchFamily="34" charset="-120"/>
              </a:rPr>
              <a:t>Microsoft 365 Copilot Chat</a:t>
            </a:r>
            <a:endParaRPr lang="en-US" sz="1000" dirty="0"/>
          </a:p>
        </p:txBody>
      </p:sp>
      <p:sp>
        <p:nvSpPr>
          <p:cNvPr id="11" name="Shape 9"/>
          <p:cNvSpPr/>
          <p:nvPr/>
        </p:nvSpPr>
        <p:spPr>
          <a:xfrm>
            <a:off x="4069080"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2" name="Shape 10"/>
          <p:cNvSpPr/>
          <p:nvPr/>
        </p:nvSpPr>
        <p:spPr>
          <a:xfrm>
            <a:off x="4069080"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3" name="Text 11"/>
          <p:cNvSpPr/>
          <p:nvPr/>
        </p:nvSpPr>
        <p:spPr>
          <a:xfrm>
            <a:off x="4069080"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4" name="Text 12"/>
          <p:cNvSpPr/>
          <p:nvPr/>
        </p:nvSpPr>
        <p:spPr>
          <a:xfrm>
            <a:off x="4754880"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Monthly Safety Performance Report</a:t>
            </a:r>
            <a:endParaRPr lang="en-US" sz="1400" dirty="0"/>
          </a:p>
        </p:txBody>
      </p:sp>
      <p:sp>
        <p:nvSpPr>
          <p:cNvPr id="15" name="Text 13"/>
          <p:cNvSpPr/>
          <p:nvPr/>
        </p:nvSpPr>
        <p:spPr>
          <a:xfrm>
            <a:off x="4297680"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"Prepare a monthly safety performance report for our [City] service center using /[Safety_Metrics.xlsx]. Summarize DOT-recordable accident frequency, injury rates, CSA scores by BASIC category, and recommend corrective actions for the top three risk drivers. Format for the operations safety review."</a:t>
            </a:r>
            <a:endParaRPr lang="en-US" sz="1050" dirty="0"/>
          </a:p>
        </p:txBody>
      </p:sp>
      <p:sp>
        <p:nvSpPr>
          <p:cNvPr id="16" name="Shape 14"/>
          <p:cNvSpPr/>
          <p:nvPr/>
        </p:nvSpPr>
        <p:spPr>
          <a:xfrm>
            <a:off x="8016088"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7" name="Shape 15"/>
          <p:cNvSpPr/>
          <p:nvPr/>
        </p:nvSpPr>
        <p:spPr>
          <a:xfrm>
            <a:off x="8016088"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8" name="Text 16"/>
          <p:cNvSpPr/>
          <p:nvPr/>
        </p:nvSpPr>
        <p:spPr>
          <a:xfrm>
            <a:off x="8016088"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9" name="Text 17"/>
          <p:cNvSpPr/>
          <p:nvPr/>
        </p:nvSpPr>
        <p:spPr>
          <a:xfrm>
            <a:off x="8701888"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Accident-Reduction 90-Day Plan</a:t>
            </a:r>
            <a:endParaRPr lang="en-US" sz="1400" dirty="0"/>
          </a:p>
        </p:txBody>
      </p:sp>
      <p:sp>
        <p:nvSpPr>
          <p:cNvPr id="20" name="Text 18"/>
          <p:cNvSpPr/>
          <p:nvPr/>
        </p:nvSpPr>
        <p:spPr>
          <a:xfrm>
            <a:off x="8244688"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"Create a 90-day safety improvement plan for our [City] service center targeting a 30% reduction in preventable accidents. Include a leading-indicator framework, root-cause closure priorities, driver coaching and competency assessments, and a weekly steering review cadence with executive sponsors."</a:t>
            </a:r>
            <a:endParaRPr lang="en-US" sz="1050" dirty="0"/>
          </a:p>
        </p:txBody>
      </p:sp>
      <p:sp>
        <p:nvSpPr>
          <p:cNvPr id="21" name="Shape 19"/>
          <p:cNvSpPr/>
          <p:nvPr/>
        </p:nvSpPr>
        <p:spPr>
          <a:xfrm>
            <a:off x="4069080"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2" name="Shape 20"/>
          <p:cNvSpPr/>
          <p:nvPr/>
        </p:nvSpPr>
        <p:spPr>
          <a:xfrm>
            <a:off x="4069080"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3" name="Text 21"/>
          <p:cNvSpPr/>
          <p:nvPr/>
        </p:nvSpPr>
        <p:spPr>
          <a:xfrm>
            <a:off x="4069080"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4" name="Text 22"/>
          <p:cNvSpPr/>
          <p:nvPr/>
        </p:nvSpPr>
        <p:spPr>
          <a:xfrm>
            <a:off x="4754880"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DOT Audit Summary</a:t>
            </a:r>
            <a:endParaRPr lang="en-US" sz="1400" dirty="0"/>
          </a:p>
        </p:txBody>
      </p:sp>
      <p:sp>
        <p:nvSpPr>
          <p:cNvPr id="25" name="Text 23"/>
          <p:cNvSpPr/>
          <p:nvPr/>
        </p:nvSpPr>
        <p:spPr>
          <a:xfrm>
            <a:off x="4297680"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"Summarize /[DOT_Audit.pdf] from our recent FMCSA compliance review. Create an executive summary with: (1) major findings and root causes, (2) priority corrective actions with owners and dates, and (3) a one-slide board briefing for the Safety Committee."</a:t>
            </a:r>
            <a:endParaRPr lang="en-US" sz="1050" dirty="0"/>
          </a:p>
        </p:txBody>
      </p:sp>
      <p:sp>
        <p:nvSpPr>
          <p:cNvPr id="26" name="Shape 24"/>
          <p:cNvSpPr/>
          <p:nvPr/>
        </p:nvSpPr>
        <p:spPr>
          <a:xfrm>
            <a:off x="8016088"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7" name="Shape 25"/>
          <p:cNvSpPr/>
          <p:nvPr/>
        </p:nvSpPr>
        <p:spPr>
          <a:xfrm>
            <a:off x="8016088"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8" name="Text 26"/>
          <p:cNvSpPr/>
          <p:nvPr/>
        </p:nvSpPr>
        <p:spPr>
          <a:xfrm>
            <a:off x="8016088"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9" name="Text 27"/>
          <p:cNvSpPr/>
          <p:nvPr/>
        </p:nvSpPr>
        <p:spPr>
          <a:xfrm>
            <a:off x="8701888"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Cross-Location Safety Playbook</a:t>
            </a:r>
            <a:endParaRPr lang="en-US" sz="1400" dirty="0"/>
          </a:p>
        </p:txBody>
      </p:sp>
      <p:sp>
        <p:nvSpPr>
          <p:cNvPr id="30" name="Text 28"/>
          <p:cNvSpPr/>
          <p:nvPr/>
        </p:nvSpPr>
        <p:spPr>
          <a:xfrm>
            <a:off x="8244688"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"Compare safety metrics across our five largest service centers. Identify the top three best practices from the highest-performing location — covering accident frequency, on-time CSA compliance, and injury rates — and draft an implementation playbook to standardize them network-wide within 12 months."</a:t>
            </a:r>
            <a:endParaRPr lang="en-US" sz="1050" dirty="0"/>
          </a:p>
        </p:txBody>
      </p:sp>
      <p:sp>
        <p:nvSpPr>
          <p:cNvPr id="31" name="Text 29"/>
          <p:cNvSpPr/>
          <p:nvPr/>
        </p:nvSpPr>
        <p:spPr>
          <a:xfrm>
            <a:off x="4069080" y="6492240"/>
            <a:ext cx="7848295"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Zava Shipping  |  Microsoft 365 Copilot Executive Prompt Guide  |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0854"/>
          </a:solidFill>
          <a:ln/>
        </p:spPr>
        <p:txBody>
          <a:bodyPr/>
          <a:lstStyle/>
          <a:p>
            <a:endParaRPr lang="en-US"/>
          </a:p>
        </p:txBody>
      </p:sp>
      <p:sp>
        <p:nvSpPr>
          <p:cNvPr id="3" name="Shape 1"/>
          <p:cNvSpPr/>
          <p:nvPr/>
        </p:nvSpPr>
        <p:spPr>
          <a:xfrm>
            <a:off x="3657600" y="0"/>
            <a:ext cx="54864" cy="6858000"/>
          </a:xfrm>
          <a:prstGeom prst="rect">
            <a:avLst/>
          </a:prstGeom>
          <a:solidFill>
            <a:srgbClr val="FF6600"/>
          </a:solidFill>
          <a:ln/>
        </p:spPr>
        <p:txBody>
          <a:bodyPr/>
          <a:lstStyle/>
          <a:p>
            <a:endParaRPr lang="en-US"/>
          </a:p>
        </p:txBody>
      </p:sp>
      <p:sp>
        <p:nvSpPr>
          <p:cNvPr id="4" name="Text 2"/>
          <p:cNvSpPr/>
          <p:nvPr/>
        </p:nvSpPr>
        <p:spPr>
          <a:xfrm>
            <a:off x="365760" y="411480"/>
            <a:ext cx="3108960" cy="320040"/>
          </a:xfrm>
          <a:prstGeom prst="rect">
            <a:avLst/>
          </a:prstGeom>
          <a:noFill/>
          <a:ln/>
        </p:spPr>
        <p:txBody>
          <a:bodyPr wrap="square" rtlCol="0" anchor="ctr"/>
          <a:lstStyle/>
          <a:p>
            <a:pPr marL="0" indent="0">
              <a:buNone/>
            </a:pPr>
            <a:r>
              <a:rPr lang="en-US" sz="1200" b="1" kern="0" spc="600" dirty="0">
                <a:solidFill>
                  <a:srgbClr val="FF6600"/>
                </a:solidFill>
                <a:latin typeface="Calibri" pitchFamily="34" charset="0"/>
                <a:ea typeface="Calibri" pitchFamily="34" charset="-122"/>
                <a:cs typeface="Calibri" pitchFamily="34" charset="-120"/>
              </a:rPr>
              <a:t>ZAVA SHIPPING</a:t>
            </a:r>
            <a:endParaRPr lang="en-US" sz="1200" dirty="0"/>
          </a:p>
        </p:txBody>
      </p:sp>
      <p:sp>
        <p:nvSpPr>
          <p:cNvPr id="5" name="Shape 3"/>
          <p:cNvSpPr/>
          <p:nvPr/>
        </p:nvSpPr>
        <p:spPr>
          <a:xfrm>
            <a:off x="365760" y="841248"/>
            <a:ext cx="914400" cy="36576"/>
          </a:xfrm>
          <a:prstGeom prst="rect">
            <a:avLst/>
          </a:prstGeom>
          <a:solidFill>
            <a:srgbClr val="C8102E"/>
          </a:solidFill>
          <a:ln/>
        </p:spPr>
        <p:txBody>
          <a:bodyPr/>
          <a:lstStyle/>
          <a:p>
            <a:endParaRPr lang="en-US"/>
          </a:p>
        </p:txBody>
      </p:sp>
      <p:sp>
        <p:nvSpPr>
          <p:cNvPr id="6" name="Text 4"/>
          <p:cNvSpPr/>
          <p:nvPr/>
        </p:nvSpPr>
        <p:spPr>
          <a:xfrm>
            <a:off x="365760" y="1143000"/>
            <a:ext cx="3108960" cy="13716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VP Sustainability &amp; ESG</a:t>
            </a:r>
            <a:endParaRPr lang="en-US" sz="3000" dirty="0"/>
          </a:p>
        </p:txBody>
      </p:sp>
      <p:sp>
        <p:nvSpPr>
          <p:cNvPr id="7" name="Text 5"/>
          <p:cNvSpPr/>
          <p:nvPr/>
        </p:nvSpPr>
        <p:spPr>
          <a:xfrm>
            <a:off x="365760" y="2788920"/>
            <a:ext cx="3108960" cy="731520"/>
          </a:xfrm>
          <a:prstGeom prst="rect">
            <a:avLst/>
          </a:prstGeom>
          <a:noFill/>
          <a:ln/>
        </p:spPr>
        <p:txBody>
          <a:bodyPr wrap="square" rtlCol="0" anchor="ctr"/>
          <a:lstStyle/>
          <a:p>
            <a:pPr marL="0" indent="0">
              <a:buNone/>
            </a:pPr>
            <a:r>
              <a:rPr lang="en-US" sz="1250" i="1" dirty="0">
                <a:solidFill>
                  <a:srgbClr val="FF6600"/>
                </a:solidFill>
                <a:latin typeface="Calibri" pitchFamily="34" charset="0"/>
                <a:ea typeface="Calibri" pitchFamily="34" charset="-122"/>
                <a:cs typeface="Calibri" pitchFamily="34" charset="-120"/>
              </a:rPr>
              <a:t>2040 carbon goal  |  Fleet electrification</a:t>
            </a:r>
            <a:endParaRPr lang="en-US" sz="1250" dirty="0"/>
          </a:p>
          <a:p>
            <a:pPr marL="0" indent="0">
              <a:buNone/>
            </a:pPr>
            <a:r>
              <a:rPr lang="en-US" sz="1250" i="1" dirty="0">
                <a:solidFill>
                  <a:srgbClr val="FF6600"/>
                </a:solidFill>
                <a:latin typeface="Calibri" pitchFamily="34" charset="0"/>
                <a:ea typeface="Calibri" pitchFamily="34" charset="-122"/>
                <a:cs typeface="Calibri" pitchFamily="34" charset="-120"/>
              </a:rPr>
              <a:t>Customer data requests  |  Fuel efficiency</a:t>
            </a:r>
            <a:endParaRPr lang="en-US" sz="1250" dirty="0"/>
          </a:p>
        </p:txBody>
      </p:sp>
      <p:sp>
        <p:nvSpPr>
          <p:cNvPr id="8" name="Shape 6"/>
          <p:cNvSpPr/>
          <p:nvPr/>
        </p:nvSpPr>
        <p:spPr>
          <a:xfrm>
            <a:off x="365760" y="3749040"/>
            <a:ext cx="457200" cy="36576"/>
          </a:xfrm>
          <a:prstGeom prst="rect">
            <a:avLst/>
          </a:prstGeom>
          <a:solidFill>
            <a:srgbClr val="C8102E"/>
          </a:solidFill>
          <a:ln/>
        </p:spPr>
        <p:txBody>
          <a:bodyPr/>
          <a:lstStyle/>
          <a:p>
            <a:endParaRPr lang="en-US"/>
          </a:p>
        </p:txBody>
      </p:sp>
      <p:sp>
        <p:nvSpPr>
          <p:cNvPr id="9" name="Text 7"/>
          <p:cNvSpPr/>
          <p:nvPr/>
        </p:nvSpPr>
        <p:spPr>
          <a:xfrm>
            <a:off x="365760" y="3886200"/>
            <a:ext cx="3108960" cy="18288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Sustainability is now a freight-buying criterion for national shippers and 3PLs. These prompts help Zava Shipping's ESG leaders move from reporting to commercial advantage — turning fleet efficiency, electrification, and Scope 1 progress into customer-facing wins.</a:t>
            </a:r>
            <a:endParaRPr lang="en-US" sz="1150" dirty="0"/>
          </a:p>
        </p:txBody>
      </p:sp>
      <p:sp>
        <p:nvSpPr>
          <p:cNvPr id="10" name="Text 8"/>
          <p:cNvSpPr/>
          <p:nvPr/>
        </p:nvSpPr>
        <p:spPr>
          <a:xfrm>
            <a:off x="365760" y="6263640"/>
            <a:ext cx="3108960" cy="274320"/>
          </a:xfrm>
          <a:prstGeom prst="rect">
            <a:avLst/>
          </a:prstGeom>
          <a:noFill/>
          <a:ln/>
        </p:spPr>
        <p:txBody>
          <a:bodyPr wrap="square" rtlCol="0" anchor="ctr"/>
          <a:lstStyle/>
          <a:p>
            <a:pPr marL="0" indent="0">
              <a:buNone/>
            </a:pPr>
            <a:r>
              <a:rPr lang="en-US" sz="1000" i="1" dirty="0">
                <a:solidFill>
                  <a:srgbClr val="FF6600"/>
                </a:solidFill>
                <a:latin typeface="Calibri" pitchFamily="34" charset="0"/>
                <a:ea typeface="Calibri" pitchFamily="34" charset="-122"/>
                <a:cs typeface="Calibri" pitchFamily="34" charset="-120"/>
              </a:rPr>
              <a:t>Microsoft 365 Copilot Chat</a:t>
            </a:r>
            <a:endParaRPr lang="en-US" sz="1000" dirty="0"/>
          </a:p>
        </p:txBody>
      </p:sp>
      <p:sp>
        <p:nvSpPr>
          <p:cNvPr id="11" name="Shape 9"/>
          <p:cNvSpPr/>
          <p:nvPr/>
        </p:nvSpPr>
        <p:spPr>
          <a:xfrm>
            <a:off x="4069080"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2" name="Shape 10"/>
          <p:cNvSpPr/>
          <p:nvPr/>
        </p:nvSpPr>
        <p:spPr>
          <a:xfrm>
            <a:off x="4069080"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3" name="Text 11"/>
          <p:cNvSpPr/>
          <p:nvPr/>
        </p:nvSpPr>
        <p:spPr>
          <a:xfrm>
            <a:off x="4069080"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4" name="Text 12"/>
          <p:cNvSpPr/>
          <p:nvPr/>
        </p:nvSpPr>
        <p:spPr>
          <a:xfrm>
            <a:off x="4754880"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Sustainability Report Drafting</a:t>
            </a:r>
            <a:endParaRPr lang="en-US" sz="1400" dirty="0"/>
          </a:p>
        </p:txBody>
      </p:sp>
      <p:sp>
        <p:nvSpPr>
          <p:cNvPr id="15" name="Text 13"/>
          <p:cNvSpPr/>
          <p:nvPr/>
        </p:nvSpPr>
        <p:spPr>
          <a:xfrm>
            <a:off x="4297680"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"Draft a two-page executive summary section for Zava Shipping's 2026 sustainability update. Cover progress against Zava Shipping's carbon-neutral-by-2040 goal, fleet fuel-efficiency gains, electric and alternative-fuel vehicle deployment, facility energy improvements, and people &amp; community highlights."</a:t>
            </a:r>
            <a:endParaRPr lang="en-US" sz="1050" dirty="0"/>
          </a:p>
        </p:txBody>
      </p:sp>
      <p:sp>
        <p:nvSpPr>
          <p:cNvPr id="16" name="Shape 14"/>
          <p:cNvSpPr/>
          <p:nvPr/>
        </p:nvSpPr>
        <p:spPr>
          <a:xfrm>
            <a:off x="8016088"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7" name="Shape 15"/>
          <p:cNvSpPr/>
          <p:nvPr/>
        </p:nvSpPr>
        <p:spPr>
          <a:xfrm>
            <a:off x="8016088"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8" name="Text 16"/>
          <p:cNvSpPr/>
          <p:nvPr/>
        </p:nvSpPr>
        <p:spPr>
          <a:xfrm>
            <a:off x="8016088"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9" name="Text 17"/>
          <p:cNvSpPr/>
          <p:nvPr/>
        </p:nvSpPr>
        <p:spPr>
          <a:xfrm>
            <a:off x="8701888"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Emissions Reporting Roadmap</a:t>
            </a:r>
            <a:endParaRPr lang="en-US" sz="1400" dirty="0"/>
          </a:p>
        </p:txBody>
      </p:sp>
      <p:sp>
        <p:nvSpPr>
          <p:cNvPr id="20" name="Text 18"/>
          <p:cNvSpPr/>
          <p:nvPr/>
        </p:nvSpPr>
        <p:spPr>
          <a:xfrm>
            <a:off x="8244688"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"Create a 12-month roadmap to strengthen Zava Shipping's emissions reporting readiness. Include Scope 1 and 2 data-owner mapping, fuel and facility data sources, gap-closure priorities, assurance-readiness milestones, and a clear RACI across operations, fleet, and finance."</a:t>
            </a:r>
            <a:endParaRPr lang="en-US" sz="1050" dirty="0"/>
          </a:p>
        </p:txBody>
      </p:sp>
      <p:sp>
        <p:nvSpPr>
          <p:cNvPr id="21" name="Shape 19"/>
          <p:cNvSpPr/>
          <p:nvPr/>
        </p:nvSpPr>
        <p:spPr>
          <a:xfrm>
            <a:off x="4069080"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2" name="Shape 20"/>
          <p:cNvSpPr/>
          <p:nvPr/>
        </p:nvSpPr>
        <p:spPr>
          <a:xfrm>
            <a:off x="4069080"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3" name="Text 21"/>
          <p:cNvSpPr/>
          <p:nvPr/>
        </p:nvSpPr>
        <p:spPr>
          <a:xfrm>
            <a:off x="4069080"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4" name="Text 22"/>
          <p:cNvSpPr/>
          <p:nvPr/>
        </p:nvSpPr>
        <p:spPr>
          <a:xfrm>
            <a:off x="4754880"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Customer Sustainability Data Request</a:t>
            </a:r>
            <a:endParaRPr lang="en-US" sz="1400" dirty="0"/>
          </a:p>
        </p:txBody>
      </p:sp>
      <p:sp>
        <p:nvSpPr>
          <p:cNvPr id="25" name="Text 23"/>
          <p:cNvSpPr/>
          <p:nvPr/>
        </p:nvSpPr>
        <p:spPr>
          <a:xfrm>
            <a:off x="4297680"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"A major shipper has requested shipment-level carbon-emissions data and a fleet-decarbonization roadmap for their freight with us. Draft a response framework that identifies what we can provide today, what requires investment, and the commercial unlock for closing the gap."</a:t>
            </a:r>
            <a:endParaRPr lang="en-US" sz="1050" dirty="0"/>
          </a:p>
        </p:txBody>
      </p:sp>
      <p:sp>
        <p:nvSpPr>
          <p:cNvPr id="26" name="Shape 24"/>
          <p:cNvSpPr/>
          <p:nvPr/>
        </p:nvSpPr>
        <p:spPr>
          <a:xfrm>
            <a:off x="8016088"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7" name="Shape 25"/>
          <p:cNvSpPr/>
          <p:nvPr/>
        </p:nvSpPr>
        <p:spPr>
          <a:xfrm>
            <a:off x="8016088"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8" name="Text 26"/>
          <p:cNvSpPr/>
          <p:nvPr/>
        </p:nvSpPr>
        <p:spPr>
          <a:xfrm>
            <a:off x="8016088"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9" name="Text 27"/>
          <p:cNvSpPr/>
          <p:nvPr/>
        </p:nvSpPr>
        <p:spPr>
          <a:xfrm>
            <a:off x="8701888"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Fleet Electrification Strategy</a:t>
            </a:r>
            <a:endParaRPr lang="en-US" sz="1400" dirty="0"/>
          </a:p>
        </p:txBody>
      </p:sp>
      <p:sp>
        <p:nvSpPr>
          <p:cNvPr id="30" name="Text 28"/>
          <p:cNvSpPr/>
          <p:nvPr/>
        </p:nvSpPr>
        <p:spPr>
          <a:xfrm>
            <a:off x="8244688"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"Create a board-level narrative on Zava Shipping's fleet electrification and efficiency strategy. Cover today's fleet mix, our 2040 ambition, enabling levers (electric tractors, aerodynamics, route optimization, alternative fuels), infrastructure requirements, and the CapEx implications across the network."</a:t>
            </a:r>
            <a:endParaRPr lang="en-US" sz="1050" dirty="0"/>
          </a:p>
        </p:txBody>
      </p:sp>
      <p:sp>
        <p:nvSpPr>
          <p:cNvPr id="31" name="Text 29"/>
          <p:cNvSpPr/>
          <p:nvPr/>
        </p:nvSpPr>
        <p:spPr>
          <a:xfrm>
            <a:off x="4069080" y="6492240"/>
            <a:ext cx="7848295"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Zava Shipping  |  Microsoft 365 Copilot Executive Prompt Guide  |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0854"/>
          </a:solidFill>
          <a:ln/>
        </p:spPr>
        <p:txBody>
          <a:bodyPr/>
          <a:lstStyle/>
          <a:p>
            <a:endParaRPr lang="en-US"/>
          </a:p>
        </p:txBody>
      </p:sp>
      <p:sp>
        <p:nvSpPr>
          <p:cNvPr id="3" name="Shape 1"/>
          <p:cNvSpPr/>
          <p:nvPr/>
        </p:nvSpPr>
        <p:spPr>
          <a:xfrm>
            <a:off x="3657600" y="0"/>
            <a:ext cx="54864" cy="6858000"/>
          </a:xfrm>
          <a:prstGeom prst="rect">
            <a:avLst/>
          </a:prstGeom>
          <a:solidFill>
            <a:srgbClr val="FF6600"/>
          </a:solidFill>
          <a:ln/>
        </p:spPr>
        <p:txBody>
          <a:bodyPr/>
          <a:lstStyle/>
          <a:p>
            <a:endParaRPr lang="en-US"/>
          </a:p>
        </p:txBody>
      </p:sp>
      <p:sp>
        <p:nvSpPr>
          <p:cNvPr id="4" name="Text 2"/>
          <p:cNvSpPr/>
          <p:nvPr/>
        </p:nvSpPr>
        <p:spPr>
          <a:xfrm>
            <a:off x="365760" y="411480"/>
            <a:ext cx="3108960" cy="320040"/>
          </a:xfrm>
          <a:prstGeom prst="rect">
            <a:avLst/>
          </a:prstGeom>
          <a:noFill/>
          <a:ln/>
        </p:spPr>
        <p:txBody>
          <a:bodyPr wrap="square" rtlCol="0" anchor="ctr"/>
          <a:lstStyle/>
          <a:p>
            <a:pPr marL="0" indent="0">
              <a:buNone/>
            </a:pPr>
            <a:r>
              <a:rPr lang="en-US" sz="1200" b="1" kern="0" spc="600" dirty="0">
                <a:solidFill>
                  <a:srgbClr val="FF6600"/>
                </a:solidFill>
                <a:latin typeface="Calibri" pitchFamily="34" charset="0"/>
                <a:ea typeface="Calibri" pitchFamily="34" charset="-122"/>
                <a:cs typeface="Calibri" pitchFamily="34" charset="-120"/>
              </a:rPr>
              <a:t>ZAVA SHIPPING</a:t>
            </a:r>
            <a:endParaRPr lang="en-US" sz="1200" dirty="0"/>
          </a:p>
        </p:txBody>
      </p:sp>
      <p:sp>
        <p:nvSpPr>
          <p:cNvPr id="5" name="Shape 3"/>
          <p:cNvSpPr/>
          <p:nvPr/>
        </p:nvSpPr>
        <p:spPr>
          <a:xfrm>
            <a:off x="365760" y="841248"/>
            <a:ext cx="914400" cy="36576"/>
          </a:xfrm>
          <a:prstGeom prst="rect">
            <a:avLst/>
          </a:prstGeom>
          <a:solidFill>
            <a:srgbClr val="C8102E"/>
          </a:solidFill>
          <a:ln/>
        </p:spPr>
        <p:txBody>
          <a:bodyPr/>
          <a:lstStyle/>
          <a:p>
            <a:endParaRPr lang="en-US"/>
          </a:p>
        </p:txBody>
      </p:sp>
      <p:sp>
        <p:nvSpPr>
          <p:cNvPr id="6" name="Text 4"/>
          <p:cNvSpPr/>
          <p:nvPr/>
        </p:nvSpPr>
        <p:spPr>
          <a:xfrm>
            <a:off x="365760" y="1143000"/>
            <a:ext cx="3108960" cy="13716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VP Human Resources &amp; Driver Workforce</a:t>
            </a:r>
            <a:endParaRPr lang="en-US" sz="3000" dirty="0"/>
          </a:p>
        </p:txBody>
      </p:sp>
      <p:sp>
        <p:nvSpPr>
          <p:cNvPr id="7" name="Text 5"/>
          <p:cNvSpPr/>
          <p:nvPr/>
        </p:nvSpPr>
        <p:spPr>
          <a:xfrm>
            <a:off x="365760" y="2788920"/>
            <a:ext cx="3108960" cy="731520"/>
          </a:xfrm>
          <a:prstGeom prst="rect">
            <a:avLst/>
          </a:prstGeom>
          <a:noFill/>
          <a:ln/>
        </p:spPr>
        <p:txBody>
          <a:bodyPr wrap="square" rtlCol="0" anchor="ctr"/>
          <a:lstStyle/>
          <a:p>
            <a:pPr marL="0" indent="0">
              <a:buNone/>
            </a:pPr>
            <a:r>
              <a:rPr lang="en-US" sz="1250" i="1" dirty="0">
                <a:solidFill>
                  <a:srgbClr val="FF6600"/>
                </a:solidFill>
                <a:latin typeface="Calibri" pitchFamily="34" charset="0"/>
                <a:ea typeface="Calibri" pitchFamily="34" charset="-122"/>
                <a:cs typeface="Calibri" pitchFamily="34" charset="-120"/>
              </a:rPr>
              <a:t>Driver recruiting  |  Engagement</a:t>
            </a:r>
            <a:endParaRPr lang="en-US" sz="1250" dirty="0"/>
          </a:p>
          <a:p>
            <a:pPr marL="0" indent="0">
              <a:buNone/>
            </a:pPr>
            <a:r>
              <a:rPr lang="en-US" sz="1250" i="1" dirty="0">
                <a:solidFill>
                  <a:srgbClr val="FF6600"/>
                </a:solidFill>
                <a:latin typeface="Calibri" pitchFamily="34" charset="0"/>
                <a:ea typeface="Calibri" pitchFamily="34" charset="-122"/>
                <a:cs typeface="Calibri" pitchFamily="34" charset="-120"/>
              </a:rPr>
              <a:t>Onboarding  |  Workforce planning</a:t>
            </a:r>
            <a:endParaRPr lang="en-US" sz="1250" dirty="0"/>
          </a:p>
        </p:txBody>
      </p:sp>
      <p:sp>
        <p:nvSpPr>
          <p:cNvPr id="8" name="Shape 6"/>
          <p:cNvSpPr/>
          <p:nvPr/>
        </p:nvSpPr>
        <p:spPr>
          <a:xfrm>
            <a:off x="365760" y="3749040"/>
            <a:ext cx="457200" cy="36576"/>
          </a:xfrm>
          <a:prstGeom prst="rect">
            <a:avLst/>
          </a:prstGeom>
          <a:solidFill>
            <a:srgbClr val="C8102E"/>
          </a:solidFill>
          <a:ln/>
        </p:spPr>
        <p:txBody>
          <a:bodyPr/>
          <a:lstStyle/>
          <a:p>
            <a:endParaRPr lang="en-US"/>
          </a:p>
        </p:txBody>
      </p:sp>
      <p:sp>
        <p:nvSpPr>
          <p:cNvPr id="9" name="Text 7"/>
          <p:cNvSpPr/>
          <p:nvPr/>
        </p:nvSpPr>
        <p:spPr>
          <a:xfrm>
            <a:off x="365760" y="3886200"/>
            <a:ext cx="3108960" cy="18288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Zava Shipping's drivers, dockworkers, and support teams are the engine of its service. These prompts help HR leaders connect talent strategy to network growth and safety — and translate engagement data into concrete action across a large, distributed workforce.</a:t>
            </a:r>
            <a:endParaRPr lang="en-US" sz="1150" dirty="0"/>
          </a:p>
        </p:txBody>
      </p:sp>
      <p:sp>
        <p:nvSpPr>
          <p:cNvPr id="10" name="Text 8"/>
          <p:cNvSpPr/>
          <p:nvPr/>
        </p:nvSpPr>
        <p:spPr>
          <a:xfrm>
            <a:off x="365760" y="6263640"/>
            <a:ext cx="3108960" cy="274320"/>
          </a:xfrm>
          <a:prstGeom prst="rect">
            <a:avLst/>
          </a:prstGeom>
          <a:noFill/>
          <a:ln/>
        </p:spPr>
        <p:txBody>
          <a:bodyPr wrap="square" rtlCol="0" anchor="ctr"/>
          <a:lstStyle/>
          <a:p>
            <a:pPr marL="0" indent="0">
              <a:buNone/>
            </a:pPr>
            <a:r>
              <a:rPr lang="en-US" sz="1000" i="1" dirty="0">
                <a:solidFill>
                  <a:srgbClr val="FF6600"/>
                </a:solidFill>
                <a:latin typeface="Calibri" pitchFamily="34" charset="0"/>
                <a:ea typeface="Calibri" pitchFamily="34" charset="-122"/>
                <a:cs typeface="Calibri" pitchFamily="34" charset="-120"/>
              </a:rPr>
              <a:t>Microsoft 365 Copilot Chat</a:t>
            </a:r>
            <a:endParaRPr lang="en-US" sz="1000" dirty="0"/>
          </a:p>
        </p:txBody>
      </p:sp>
      <p:sp>
        <p:nvSpPr>
          <p:cNvPr id="11" name="Shape 9"/>
          <p:cNvSpPr/>
          <p:nvPr/>
        </p:nvSpPr>
        <p:spPr>
          <a:xfrm>
            <a:off x="4069080"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2" name="Shape 10"/>
          <p:cNvSpPr/>
          <p:nvPr/>
        </p:nvSpPr>
        <p:spPr>
          <a:xfrm>
            <a:off x="4069080"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3" name="Text 11"/>
          <p:cNvSpPr/>
          <p:nvPr/>
        </p:nvSpPr>
        <p:spPr>
          <a:xfrm>
            <a:off x="4069080"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4" name="Text 12"/>
          <p:cNvSpPr/>
          <p:nvPr/>
        </p:nvSpPr>
        <p:spPr>
          <a:xfrm>
            <a:off x="4754880"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Critical Role Job Descriptions</a:t>
            </a:r>
            <a:endParaRPr lang="en-US" sz="1400" dirty="0"/>
          </a:p>
        </p:txBody>
      </p:sp>
      <p:sp>
        <p:nvSpPr>
          <p:cNvPr id="15" name="Text 13"/>
          <p:cNvSpPr/>
          <p:nvPr/>
        </p:nvSpPr>
        <p:spPr>
          <a:xfrm>
            <a:off x="4297680"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"Draft job descriptions for three critical hires: (1) City Driver — [location], (2) Service Center Manager — [location], and (3) Regional Safety Director. Anchor each to Zava Shipping's commitment to safety and moving 'Delivering Excellence,' and reflect our values and DOT requirements."</a:t>
            </a:r>
            <a:endParaRPr lang="en-US" sz="1050" dirty="0"/>
          </a:p>
        </p:txBody>
      </p:sp>
      <p:sp>
        <p:nvSpPr>
          <p:cNvPr id="16" name="Shape 14"/>
          <p:cNvSpPr/>
          <p:nvPr/>
        </p:nvSpPr>
        <p:spPr>
          <a:xfrm>
            <a:off x="8016088"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7" name="Shape 15"/>
          <p:cNvSpPr/>
          <p:nvPr/>
        </p:nvSpPr>
        <p:spPr>
          <a:xfrm>
            <a:off x="8016088"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8" name="Text 16"/>
          <p:cNvSpPr/>
          <p:nvPr/>
        </p:nvSpPr>
        <p:spPr>
          <a:xfrm>
            <a:off x="8016088"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9" name="Text 17"/>
          <p:cNvSpPr/>
          <p:nvPr/>
        </p:nvSpPr>
        <p:spPr>
          <a:xfrm>
            <a:off x="8701888"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Engagement Survey Action Plan</a:t>
            </a:r>
            <a:endParaRPr lang="en-US" sz="1400" dirty="0"/>
          </a:p>
        </p:txBody>
      </p:sp>
      <p:sp>
        <p:nvSpPr>
          <p:cNvPr id="20" name="Text 18"/>
          <p:cNvSpPr/>
          <p:nvPr/>
        </p:nvSpPr>
        <p:spPr>
          <a:xfrm>
            <a:off x="8244688"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"Our engagement survey shows concerns about scheduling and career growth. Using /[EngagementSurvey.pdf], identify the top three themes by region and create a 90-day action plan with specific initiatives, owners, success metrics, and a communication cadence to employees."</a:t>
            </a:r>
            <a:endParaRPr lang="en-US" sz="1050" dirty="0"/>
          </a:p>
        </p:txBody>
      </p:sp>
      <p:sp>
        <p:nvSpPr>
          <p:cNvPr id="21" name="Shape 19"/>
          <p:cNvSpPr/>
          <p:nvPr/>
        </p:nvSpPr>
        <p:spPr>
          <a:xfrm>
            <a:off x="4069080"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2" name="Shape 20"/>
          <p:cNvSpPr/>
          <p:nvPr/>
        </p:nvSpPr>
        <p:spPr>
          <a:xfrm>
            <a:off x="4069080"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3" name="Text 21"/>
          <p:cNvSpPr/>
          <p:nvPr/>
        </p:nvSpPr>
        <p:spPr>
          <a:xfrm>
            <a:off x="4069080"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4" name="Text 22"/>
          <p:cNvSpPr/>
          <p:nvPr/>
        </p:nvSpPr>
        <p:spPr>
          <a:xfrm>
            <a:off x="4754880"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Driver Onboarding Plan</a:t>
            </a:r>
            <a:endParaRPr lang="en-US" sz="1400" dirty="0"/>
          </a:p>
        </p:txBody>
      </p:sp>
      <p:sp>
        <p:nvSpPr>
          <p:cNvPr id="25" name="Text 23"/>
          <p:cNvSpPr/>
          <p:nvPr/>
        </p:nvSpPr>
        <p:spPr>
          <a:xfrm>
            <a:off x="4297680"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"Develop a 90-day onboarding plan for newly hired city and road drivers. Include safety and equipment training, route and customer familiarization, mentorship pairing with experienced drivers, and 30/60/90-day success checkpoints with the service-center manager."</a:t>
            </a:r>
            <a:endParaRPr lang="en-US" sz="1050" dirty="0"/>
          </a:p>
        </p:txBody>
      </p:sp>
      <p:sp>
        <p:nvSpPr>
          <p:cNvPr id="26" name="Shape 24"/>
          <p:cNvSpPr/>
          <p:nvPr/>
        </p:nvSpPr>
        <p:spPr>
          <a:xfrm>
            <a:off x="8016088"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7" name="Shape 25"/>
          <p:cNvSpPr/>
          <p:nvPr/>
        </p:nvSpPr>
        <p:spPr>
          <a:xfrm>
            <a:off x="8016088"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8" name="Text 26"/>
          <p:cNvSpPr/>
          <p:nvPr/>
        </p:nvSpPr>
        <p:spPr>
          <a:xfrm>
            <a:off x="8016088"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9" name="Text 27"/>
          <p:cNvSpPr/>
          <p:nvPr/>
        </p:nvSpPr>
        <p:spPr>
          <a:xfrm>
            <a:off x="8701888"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3-Year Workforce Roadmap</a:t>
            </a:r>
            <a:endParaRPr lang="en-US" sz="1400" dirty="0"/>
          </a:p>
        </p:txBody>
      </p:sp>
      <p:sp>
        <p:nvSpPr>
          <p:cNvPr id="30" name="Text 28"/>
          <p:cNvSpPr/>
          <p:nvPr/>
        </p:nvSpPr>
        <p:spPr>
          <a:xfrm>
            <a:off x="8244688"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"Create content for an executive presentation on workforce planning to support Zava Shipping's network growth and driver-retention goals. Cover (1) critical staffing gaps today, (2) hiring targets by role and region, (3) training and development priorities, and (4) succession readiness for the top 50 leadership roles."</a:t>
            </a:r>
            <a:endParaRPr lang="en-US" sz="1050" dirty="0"/>
          </a:p>
        </p:txBody>
      </p:sp>
      <p:sp>
        <p:nvSpPr>
          <p:cNvPr id="31" name="Text 29"/>
          <p:cNvSpPr/>
          <p:nvPr/>
        </p:nvSpPr>
        <p:spPr>
          <a:xfrm>
            <a:off x="4069080" y="6492240"/>
            <a:ext cx="7848295"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Zava Shipping  |  Microsoft 365 Copilot Executive Prompt Guide  |  2026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0854"/>
          </a:solidFill>
          <a:ln/>
        </p:spPr>
        <p:txBody>
          <a:bodyPr/>
          <a:lstStyle/>
          <a:p>
            <a:endParaRPr lang="en-US"/>
          </a:p>
        </p:txBody>
      </p:sp>
      <p:sp>
        <p:nvSpPr>
          <p:cNvPr id="3" name="Shape 1"/>
          <p:cNvSpPr/>
          <p:nvPr/>
        </p:nvSpPr>
        <p:spPr>
          <a:xfrm>
            <a:off x="3657600" y="0"/>
            <a:ext cx="54864" cy="6858000"/>
          </a:xfrm>
          <a:prstGeom prst="rect">
            <a:avLst/>
          </a:prstGeom>
          <a:solidFill>
            <a:srgbClr val="FF6600"/>
          </a:solidFill>
          <a:ln/>
        </p:spPr>
        <p:txBody>
          <a:bodyPr/>
          <a:lstStyle/>
          <a:p>
            <a:endParaRPr lang="en-US"/>
          </a:p>
        </p:txBody>
      </p:sp>
      <p:sp>
        <p:nvSpPr>
          <p:cNvPr id="4" name="Text 2"/>
          <p:cNvSpPr/>
          <p:nvPr/>
        </p:nvSpPr>
        <p:spPr>
          <a:xfrm>
            <a:off x="365760" y="411480"/>
            <a:ext cx="3108960" cy="320040"/>
          </a:xfrm>
          <a:prstGeom prst="rect">
            <a:avLst/>
          </a:prstGeom>
          <a:noFill/>
          <a:ln/>
        </p:spPr>
        <p:txBody>
          <a:bodyPr wrap="square" rtlCol="0" anchor="ctr"/>
          <a:lstStyle/>
          <a:p>
            <a:pPr marL="0" indent="0">
              <a:buNone/>
            </a:pPr>
            <a:r>
              <a:rPr lang="en-US" sz="1200" b="1" kern="0" spc="600" dirty="0">
                <a:solidFill>
                  <a:srgbClr val="FF6600"/>
                </a:solidFill>
                <a:latin typeface="Calibri" pitchFamily="34" charset="0"/>
                <a:ea typeface="Calibri" pitchFamily="34" charset="-122"/>
                <a:cs typeface="Calibri" pitchFamily="34" charset="-120"/>
              </a:rPr>
              <a:t>ZAVA SHIPPING</a:t>
            </a:r>
            <a:endParaRPr lang="en-US" sz="1200" dirty="0"/>
          </a:p>
        </p:txBody>
      </p:sp>
      <p:sp>
        <p:nvSpPr>
          <p:cNvPr id="5" name="Shape 3"/>
          <p:cNvSpPr/>
          <p:nvPr/>
        </p:nvSpPr>
        <p:spPr>
          <a:xfrm>
            <a:off x="365760" y="841248"/>
            <a:ext cx="914400" cy="36576"/>
          </a:xfrm>
          <a:prstGeom prst="rect">
            <a:avLst/>
          </a:prstGeom>
          <a:solidFill>
            <a:srgbClr val="C8102E"/>
          </a:solidFill>
          <a:ln/>
        </p:spPr>
        <p:txBody>
          <a:bodyPr/>
          <a:lstStyle/>
          <a:p>
            <a:endParaRPr lang="en-US"/>
          </a:p>
        </p:txBody>
      </p:sp>
      <p:sp>
        <p:nvSpPr>
          <p:cNvPr id="6" name="Text 4"/>
          <p:cNvSpPr/>
          <p:nvPr/>
        </p:nvSpPr>
        <p:spPr>
          <a:xfrm>
            <a:off x="365760" y="1143000"/>
            <a:ext cx="3108960" cy="13716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VP Legal &amp; Regulatory Affairs</a:t>
            </a:r>
            <a:endParaRPr lang="en-US" sz="3000" dirty="0"/>
          </a:p>
        </p:txBody>
      </p:sp>
      <p:sp>
        <p:nvSpPr>
          <p:cNvPr id="7" name="Text 5"/>
          <p:cNvSpPr/>
          <p:nvPr/>
        </p:nvSpPr>
        <p:spPr>
          <a:xfrm>
            <a:off x="365760" y="2788920"/>
            <a:ext cx="3108960" cy="731520"/>
          </a:xfrm>
          <a:prstGeom prst="rect">
            <a:avLst/>
          </a:prstGeom>
          <a:noFill/>
          <a:ln/>
        </p:spPr>
        <p:txBody>
          <a:bodyPr wrap="square" rtlCol="0" anchor="ctr"/>
          <a:lstStyle/>
          <a:p>
            <a:pPr marL="0" indent="0">
              <a:buNone/>
            </a:pPr>
            <a:r>
              <a:rPr lang="en-US" sz="1250" i="1" dirty="0">
                <a:solidFill>
                  <a:srgbClr val="FF6600"/>
                </a:solidFill>
                <a:latin typeface="Calibri" pitchFamily="34" charset="0"/>
                <a:ea typeface="Calibri" pitchFamily="34" charset="-122"/>
                <a:cs typeface="Calibri" pitchFamily="34" charset="-120"/>
              </a:rPr>
              <a:t>Transportation regulation  |  Contracts</a:t>
            </a:r>
            <a:endParaRPr lang="en-US" sz="1250" dirty="0"/>
          </a:p>
          <a:p>
            <a:pPr marL="0" indent="0">
              <a:buNone/>
            </a:pPr>
            <a:r>
              <a:rPr lang="en-US" sz="1250" i="1" dirty="0">
                <a:solidFill>
                  <a:srgbClr val="FF6600"/>
                </a:solidFill>
                <a:latin typeface="Calibri" pitchFamily="34" charset="0"/>
                <a:ea typeface="Calibri" pitchFamily="34" charset="-122"/>
                <a:cs typeface="Calibri" pitchFamily="34" charset="-120"/>
              </a:rPr>
              <a:t>Claims &amp; liability  |  Risk</a:t>
            </a:r>
            <a:endParaRPr lang="en-US" sz="1250" dirty="0"/>
          </a:p>
        </p:txBody>
      </p:sp>
      <p:sp>
        <p:nvSpPr>
          <p:cNvPr id="8" name="Shape 6"/>
          <p:cNvSpPr/>
          <p:nvPr/>
        </p:nvSpPr>
        <p:spPr>
          <a:xfrm>
            <a:off x="365760" y="3749040"/>
            <a:ext cx="457200" cy="36576"/>
          </a:xfrm>
          <a:prstGeom prst="rect">
            <a:avLst/>
          </a:prstGeom>
          <a:solidFill>
            <a:srgbClr val="C8102E"/>
          </a:solidFill>
          <a:ln/>
        </p:spPr>
        <p:txBody>
          <a:bodyPr/>
          <a:lstStyle/>
          <a:p>
            <a:endParaRPr lang="en-US"/>
          </a:p>
        </p:txBody>
      </p:sp>
      <p:sp>
        <p:nvSpPr>
          <p:cNvPr id="9" name="Text 7"/>
          <p:cNvSpPr/>
          <p:nvPr/>
        </p:nvSpPr>
        <p:spPr>
          <a:xfrm>
            <a:off x="365760" y="3886200"/>
            <a:ext cx="3108960" cy="18288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LTL freight lives or dies on regulatory acuity. These prompts help Zava Shipping's legal leaders stay ahead of FMCSA, DOT, and state transportation rules — while negotiating the customer and carrier contracts that turn network capability into revenue.</a:t>
            </a:r>
            <a:endParaRPr lang="en-US" sz="1150" dirty="0"/>
          </a:p>
        </p:txBody>
      </p:sp>
      <p:sp>
        <p:nvSpPr>
          <p:cNvPr id="10" name="Text 8"/>
          <p:cNvSpPr/>
          <p:nvPr/>
        </p:nvSpPr>
        <p:spPr>
          <a:xfrm>
            <a:off x="365760" y="6263640"/>
            <a:ext cx="3108960" cy="274320"/>
          </a:xfrm>
          <a:prstGeom prst="rect">
            <a:avLst/>
          </a:prstGeom>
          <a:noFill/>
          <a:ln/>
        </p:spPr>
        <p:txBody>
          <a:bodyPr wrap="square" rtlCol="0" anchor="ctr"/>
          <a:lstStyle/>
          <a:p>
            <a:pPr marL="0" indent="0">
              <a:buNone/>
            </a:pPr>
            <a:r>
              <a:rPr lang="en-US" sz="1000" i="1" dirty="0">
                <a:solidFill>
                  <a:srgbClr val="FF6600"/>
                </a:solidFill>
                <a:latin typeface="Calibri" pitchFamily="34" charset="0"/>
                <a:ea typeface="Calibri" pitchFamily="34" charset="-122"/>
                <a:cs typeface="Calibri" pitchFamily="34" charset="-120"/>
              </a:rPr>
              <a:t>Microsoft 365 Copilot Chat</a:t>
            </a:r>
            <a:endParaRPr lang="en-US" sz="1000" dirty="0"/>
          </a:p>
        </p:txBody>
      </p:sp>
      <p:sp>
        <p:nvSpPr>
          <p:cNvPr id="11" name="Shape 9"/>
          <p:cNvSpPr/>
          <p:nvPr/>
        </p:nvSpPr>
        <p:spPr>
          <a:xfrm>
            <a:off x="4069080"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2" name="Shape 10"/>
          <p:cNvSpPr/>
          <p:nvPr/>
        </p:nvSpPr>
        <p:spPr>
          <a:xfrm>
            <a:off x="4069080"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3" name="Text 11"/>
          <p:cNvSpPr/>
          <p:nvPr/>
        </p:nvSpPr>
        <p:spPr>
          <a:xfrm>
            <a:off x="4069080"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4" name="Text 12"/>
          <p:cNvSpPr/>
          <p:nvPr/>
        </p:nvSpPr>
        <p:spPr>
          <a:xfrm>
            <a:off x="4754880"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Transportation Regulation Tracking</a:t>
            </a:r>
            <a:endParaRPr lang="en-US" sz="1400" dirty="0"/>
          </a:p>
        </p:txBody>
      </p:sp>
      <p:sp>
        <p:nvSpPr>
          <p:cNvPr id="15" name="Text 13"/>
          <p:cNvSpPr/>
          <p:nvPr/>
        </p:nvSpPr>
        <p:spPr>
          <a:xfrm>
            <a:off x="4297680"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"Summarize recent updates to FMCSA hours-of-service rules, DOT safety regulations, state-level trucking laws, and emerging emissions mandates affecting Zava Shipping's operations. For each regulation, identify our compliance status, upcoming deadlines, and required operational or process changes."</a:t>
            </a:r>
            <a:endParaRPr lang="en-US" sz="1050" dirty="0"/>
          </a:p>
        </p:txBody>
      </p:sp>
      <p:sp>
        <p:nvSpPr>
          <p:cNvPr id="16" name="Shape 14"/>
          <p:cNvSpPr/>
          <p:nvPr/>
        </p:nvSpPr>
        <p:spPr>
          <a:xfrm>
            <a:off x="8016088"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7" name="Shape 15"/>
          <p:cNvSpPr/>
          <p:nvPr/>
        </p:nvSpPr>
        <p:spPr>
          <a:xfrm>
            <a:off x="8016088"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8" name="Text 16"/>
          <p:cNvSpPr/>
          <p:nvPr/>
        </p:nvSpPr>
        <p:spPr>
          <a:xfrm>
            <a:off x="8016088"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9" name="Text 17"/>
          <p:cNvSpPr/>
          <p:nvPr/>
        </p:nvSpPr>
        <p:spPr>
          <a:xfrm>
            <a:off x="8701888"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Customer Contract Review</a:t>
            </a:r>
            <a:endParaRPr lang="en-US" sz="1400" dirty="0"/>
          </a:p>
        </p:txBody>
      </p:sp>
      <p:sp>
        <p:nvSpPr>
          <p:cNvPr id="20" name="Text 18"/>
          <p:cNvSpPr/>
          <p:nvPr/>
        </p:nvSpPr>
        <p:spPr>
          <a:xfrm>
            <a:off x="8244688"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"Review /[ServiceAgreement.pdf] with [Customer]. Flag any unfavorable terms related to liability and cargo-claim limits, indemnification, fuel-surcharge pass-through, accessorial terms, and rate escalators. For each issue, suggest Zava Shipping's preferred position and a fallback compromise for negotiation."</a:t>
            </a:r>
            <a:endParaRPr lang="en-US" sz="1050" dirty="0"/>
          </a:p>
        </p:txBody>
      </p:sp>
      <p:sp>
        <p:nvSpPr>
          <p:cNvPr id="21" name="Shape 19"/>
          <p:cNvSpPr/>
          <p:nvPr/>
        </p:nvSpPr>
        <p:spPr>
          <a:xfrm>
            <a:off x="4069080"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2" name="Shape 20"/>
          <p:cNvSpPr/>
          <p:nvPr/>
        </p:nvSpPr>
        <p:spPr>
          <a:xfrm>
            <a:off x="4069080"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3" name="Text 21"/>
          <p:cNvSpPr/>
          <p:nvPr/>
        </p:nvSpPr>
        <p:spPr>
          <a:xfrm>
            <a:off x="4069080"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4" name="Text 22"/>
          <p:cNvSpPr/>
          <p:nvPr/>
        </p:nvSpPr>
        <p:spPr>
          <a:xfrm>
            <a:off x="4754880"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Cargo Claims Exposure Assessment</a:t>
            </a:r>
            <a:endParaRPr lang="en-US" sz="1400" dirty="0"/>
          </a:p>
        </p:txBody>
      </p:sp>
      <p:sp>
        <p:nvSpPr>
          <p:cNvPr id="25" name="Text 23"/>
          <p:cNvSpPr/>
          <p:nvPr/>
        </p:nvSpPr>
        <p:spPr>
          <a:xfrm>
            <a:off x="4297680"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"Create a 12-month roadmap to assess Zava Shipping's cargo-claims and liability exposure across our network. Include high-claim lanes and commodities, root-cause patterns, process-improvement timeline, customer communication strategy, and litigation-risk assessment."</a:t>
            </a:r>
            <a:endParaRPr lang="en-US" sz="1050" dirty="0"/>
          </a:p>
        </p:txBody>
      </p:sp>
      <p:sp>
        <p:nvSpPr>
          <p:cNvPr id="26" name="Shape 24"/>
          <p:cNvSpPr/>
          <p:nvPr/>
        </p:nvSpPr>
        <p:spPr>
          <a:xfrm>
            <a:off x="8016088"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7" name="Shape 25"/>
          <p:cNvSpPr/>
          <p:nvPr/>
        </p:nvSpPr>
        <p:spPr>
          <a:xfrm>
            <a:off x="8016088"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8" name="Text 26"/>
          <p:cNvSpPr/>
          <p:nvPr/>
        </p:nvSpPr>
        <p:spPr>
          <a:xfrm>
            <a:off x="8016088"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9" name="Text 27"/>
          <p:cNvSpPr/>
          <p:nvPr/>
        </p:nvSpPr>
        <p:spPr>
          <a:xfrm>
            <a:off x="8701888"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Board Risk Briefing</a:t>
            </a:r>
            <a:endParaRPr lang="en-US" sz="1400" dirty="0"/>
          </a:p>
        </p:txBody>
      </p:sp>
      <p:sp>
        <p:nvSpPr>
          <p:cNvPr id="30" name="Text 28"/>
          <p:cNvSpPr/>
          <p:nvPr/>
        </p:nvSpPr>
        <p:spPr>
          <a:xfrm>
            <a:off x="8244688"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"Prepare a board-level risk briefing on Zava Shipping's current liability and regulatory exposure across operating regions. Organize by jurisdiction and potential financial impact. Format as a one-page summary with traffic-light risk status, mitigation status, and the top three escalation items for the CEO."</a:t>
            </a:r>
            <a:endParaRPr lang="en-US" sz="1050" dirty="0"/>
          </a:p>
        </p:txBody>
      </p:sp>
      <p:sp>
        <p:nvSpPr>
          <p:cNvPr id="31" name="Text 29"/>
          <p:cNvSpPr/>
          <p:nvPr/>
        </p:nvSpPr>
        <p:spPr>
          <a:xfrm>
            <a:off x="4069080" y="6492240"/>
            <a:ext cx="7848295"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Zava Shipping  |  Microsoft 365 Copilot Executive Prompt Guide  |  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0854"/>
          </a:solidFill>
          <a:ln/>
        </p:spPr>
        <p:txBody>
          <a:bodyPr/>
          <a:lstStyle/>
          <a:p>
            <a:endParaRPr lang="en-US"/>
          </a:p>
        </p:txBody>
      </p:sp>
      <p:sp>
        <p:nvSpPr>
          <p:cNvPr id="3" name="Shape 1"/>
          <p:cNvSpPr/>
          <p:nvPr/>
        </p:nvSpPr>
        <p:spPr>
          <a:xfrm>
            <a:off x="3657600" y="0"/>
            <a:ext cx="54864" cy="6858000"/>
          </a:xfrm>
          <a:prstGeom prst="rect">
            <a:avLst/>
          </a:prstGeom>
          <a:solidFill>
            <a:srgbClr val="FF6600"/>
          </a:solidFill>
          <a:ln/>
        </p:spPr>
        <p:txBody>
          <a:bodyPr/>
          <a:lstStyle/>
          <a:p>
            <a:endParaRPr lang="en-US"/>
          </a:p>
        </p:txBody>
      </p:sp>
      <p:sp>
        <p:nvSpPr>
          <p:cNvPr id="4" name="Text 2"/>
          <p:cNvSpPr/>
          <p:nvPr/>
        </p:nvSpPr>
        <p:spPr>
          <a:xfrm>
            <a:off x="365760" y="411480"/>
            <a:ext cx="3108960" cy="320040"/>
          </a:xfrm>
          <a:prstGeom prst="rect">
            <a:avLst/>
          </a:prstGeom>
          <a:noFill/>
          <a:ln/>
        </p:spPr>
        <p:txBody>
          <a:bodyPr wrap="square" rtlCol="0" anchor="ctr"/>
          <a:lstStyle/>
          <a:p>
            <a:pPr marL="0" indent="0">
              <a:buNone/>
            </a:pPr>
            <a:r>
              <a:rPr lang="en-US" sz="1200" b="1" kern="0" spc="600" dirty="0">
                <a:solidFill>
                  <a:srgbClr val="FF6600"/>
                </a:solidFill>
                <a:latin typeface="Calibri" pitchFamily="34" charset="0"/>
                <a:ea typeface="Calibri" pitchFamily="34" charset="-122"/>
                <a:cs typeface="Calibri" pitchFamily="34" charset="-120"/>
              </a:rPr>
              <a:t>ZAVA SHIPPING</a:t>
            </a:r>
            <a:endParaRPr lang="en-US" sz="1200" dirty="0"/>
          </a:p>
        </p:txBody>
      </p:sp>
      <p:sp>
        <p:nvSpPr>
          <p:cNvPr id="5" name="Shape 3"/>
          <p:cNvSpPr/>
          <p:nvPr/>
        </p:nvSpPr>
        <p:spPr>
          <a:xfrm>
            <a:off x="365760" y="841248"/>
            <a:ext cx="914400" cy="36576"/>
          </a:xfrm>
          <a:prstGeom prst="rect">
            <a:avLst/>
          </a:prstGeom>
          <a:solidFill>
            <a:srgbClr val="C8102E"/>
          </a:solidFill>
          <a:ln/>
        </p:spPr>
        <p:txBody>
          <a:bodyPr/>
          <a:lstStyle/>
          <a:p>
            <a:endParaRPr lang="en-US"/>
          </a:p>
        </p:txBody>
      </p:sp>
      <p:sp>
        <p:nvSpPr>
          <p:cNvPr id="6" name="Text 4"/>
          <p:cNvSpPr/>
          <p:nvPr/>
        </p:nvSpPr>
        <p:spPr>
          <a:xfrm>
            <a:off x="365760" y="1143000"/>
            <a:ext cx="3108960" cy="13716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VP Communications &amp; Public Affairs</a:t>
            </a:r>
            <a:endParaRPr lang="en-US" sz="3000" dirty="0"/>
          </a:p>
        </p:txBody>
      </p:sp>
      <p:sp>
        <p:nvSpPr>
          <p:cNvPr id="7" name="Text 5"/>
          <p:cNvSpPr/>
          <p:nvPr/>
        </p:nvSpPr>
        <p:spPr>
          <a:xfrm>
            <a:off x="365760" y="2788920"/>
            <a:ext cx="3108960" cy="731520"/>
          </a:xfrm>
          <a:prstGeom prst="rect">
            <a:avLst/>
          </a:prstGeom>
          <a:noFill/>
          <a:ln/>
        </p:spPr>
        <p:txBody>
          <a:bodyPr wrap="square" rtlCol="0" anchor="ctr"/>
          <a:lstStyle/>
          <a:p>
            <a:pPr marL="0" indent="0">
              <a:buNone/>
            </a:pPr>
            <a:r>
              <a:rPr lang="en-US" sz="1250" i="1" dirty="0">
                <a:solidFill>
                  <a:srgbClr val="FF6600"/>
                </a:solidFill>
                <a:latin typeface="Calibri" pitchFamily="34" charset="0"/>
                <a:ea typeface="Calibri" pitchFamily="34" charset="-122"/>
                <a:cs typeface="Calibri" pitchFamily="34" charset="-120"/>
              </a:rPr>
              <a:t>Brand &amp; reputation  |  Media</a:t>
            </a:r>
            <a:endParaRPr lang="en-US" sz="1250" dirty="0"/>
          </a:p>
          <a:p>
            <a:pPr marL="0" indent="0">
              <a:buNone/>
            </a:pPr>
            <a:r>
              <a:rPr lang="en-US" sz="1250" i="1" dirty="0">
                <a:solidFill>
                  <a:srgbClr val="FF6600"/>
                </a:solidFill>
                <a:latin typeface="Calibri" pitchFamily="34" charset="0"/>
                <a:ea typeface="Calibri" pitchFamily="34" charset="-122"/>
                <a:cs typeface="Calibri" pitchFamily="34" charset="-120"/>
              </a:rPr>
              <a:t>Employee communications  |  Crisis</a:t>
            </a:r>
            <a:endParaRPr lang="en-US" sz="1250" dirty="0"/>
          </a:p>
        </p:txBody>
      </p:sp>
      <p:sp>
        <p:nvSpPr>
          <p:cNvPr id="8" name="Shape 6"/>
          <p:cNvSpPr/>
          <p:nvPr/>
        </p:nvSpPr>
        <p:spPr>
          <a:xfrm>
            <a:off x="365760" y="3749040"/>
            <a:ext cx="457200" cy="36576"/>
          </a:xfrm>
          <a:prstGeom prst="rect">
            <a:avLst/>
          </a:prstGeom>
          <a:solidFill>
            <a:srgbClr val="C8102E"/>
          </a:solidFill>
          <a:ln/>
        </p:spPr>
        <p:txBody>
          <a:bodyPr/>
          <a:lstStyle/>
          <a:p>
            <a:endParaRPr lang="en-US"/>
          </a:p>
        </p:txBody>
      </p:sp>
      <p:sp>
        <p:nvSpPr>
          <p:cNvPr id="9" name="Text 7"/>
          <p:cNvSpPr/>
          <p:nvPr/>
        </p:nvSpPr>
        <p:spPr>
          <a:xfrm>
            <a:off x="365760" y="3886200"/>
            <a:ext cx="3108960" cy="18288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Every external moment is a chance to reinforce Zava Shipping's reputation for reliability and safety. These prompts help comms leaders move fast on service announcements, employee moments, and the inevitable industry news cycle.</a:t>
            </a:r>
            <a:endParaRPr lang="en-US" sz="1150" dirty="0"/>
          </a:p>
        </p:txBody>
      </p:sp>
      <p:sp>
        <p:nvSpPr>
          <p:cNvPr id="10" name="Text 8"/>
          <p:cNvSpPr/>
          <p:nvPr/>
        </p:nvSpPr>
        <p:spPr>
          <a:xfrm>
            <a:off x="365760" y="6263640"/>
            <a:ext cx="3108960" cy="274320"/>
          </a:xfrm>
          <a:prstGeom prst="rect">
            <a:avLst/>
          </a:prstGeom>
          <a:noFill/>
          <a:ln/>
        </p:spPr>
        <p:txBody>
          <a:bodyPr wrap="square" rtlCol="0" anchor="ctr"/>
          <a:lstStyle/>
          <a:p>
            <a:pPr marL="0" indent="0">
              <a:buNone/>
            </a:pPr>
            <a:r>
              <a:rPr lang="en-US" sz="1000" i="1" dirty="0">
                <a:solidFill>
                  <a:srgbClr val="FF6600"/>
                </a:solidFill>
                <a:latin typeface="Calibri" pitchFamily="34" charset="0"/>
                <a:ea typeface="Calibri" pitchFamily="34" charset="-122"/>
                <a:cs typeface="Calibri" pitchFamily="34" charset="-120"/>
              </a:rPr>
              <a:t>Microsoft 365 Copilot Chat</a:t>
            </a:r>
            <a:endParaRPr lang="en-US" sz="1000" dirty="0"/>
          </a:p>
        </p:txBody>
      </p:sp>
      <p:sp>
        <p:nvSpPr>
          <p:cNvPr id="11" name="Shape 9"/>
          <p:cNvSpPr/>
          <p:nvPr/>
        </p:nvSpPr>
        <p:spPr>
          <a:xfrm>
            <a:off x="4069080"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2" name="Shape 10"/>
          <p:cNvSpPr/>
          <p:nvPr/>
        </p:nvSpPr>
        <p:spPr>
          <a:xfrm>
            <a:off x="4069080"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3" name="Text 11"/>
          <p:cNvSpPr/>
          <p:nvPr/>
        </p:nvSpPr>
        <p:spPr>
          <a:xfrm>
            <a:off x="4069080"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4" name="Text 12"/>
          <p:cNvSpPr/>
          <p:nvPr/>
        </p:nvSpPr>
        <p:spPr>
          <a:xfrm>
            <a:off x="4754880"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Service Announcement Press Release</a:t>
            </a:r>
            <a:endParaRPr lang="en-US" sz="1400" dirty="0"/>
          </a:p>
        </p:txBody>
      </p:sp>
      <p:sp>
        <p:nvSpPr>
          <p:cNvPr id="15" name="Text 13"/>
          <p:cNvSpPr/>
          <p:nvPr/>
        </p:nvSpPr>
        <p:spPr>
          <a:xfrm>
            <a:off x="4297680"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"Draft a press release announcing a Zava Shipping service enhancement — expanded next-day LTL coverage across [region] with improved transit times. Include the key customer benefit, target market impact, an executive quote reinforcing our commitment to moving 'Delivering Excellence,' and supporting performance data if available."</a:t>
            </a:r>
            <a:endParaRPr lang="en-US" sz="1050" dirty="0"/>
          </a:p>
        </p:txBody>
      </p:sp>
      <p:sp>
        <p:nvSpPr>
          <p:cNvPr id="16" name="Shape 14"/>
          <p:cNvSpPr/>
          <p:nvPr/>
        </p:nvSpPr>
        <p:spPr>
          <a:xfrm>
            <a:off x="8016088"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7" name="Shape 15"/>
          <p:cNvSpPr/>
          <p:nvPr/>
        </p:nvSpPr>
        <p:spPr>
          <a:xfrm>
            <a:off x="8016088"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8" name="Text 16"/>
          <p:cNvSpPr/>
          <p:nvPr/>
        </p:nvSpPr>
        <p:spPr>
          <a:xfrm>
            <a:off x="8016088"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9" name="Text 17"/>
          <p:cNvSpPr/>
          <p:nvPr/>
        </p:nvSpPr>
        <p:spPr>
          <a:xfrm>
            <a:off x="8701888"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Employee All-Hands Message</a:t>
            </a:r>
            <a:endParaRPr lang="en-US" sz="1400" dirty="0"/>
          </a:p>
        </p:txBody>
      </p:sp>
      <p:sp>
        <p:nvSpPr>
          <p:cNvPr id="20" name="Text 18"/>
          <p:cNvSpPr/>
          <p:nvPr/>
        </p:nvSpPr>
        <p:spPr>
          <a:xfrm>
            <a:off x="8244688"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"Create an internal all-hands communication announcing Q4 2026 results. Lead with what the results mean for our drivers, dock teams, and support staff and our 2027 priorities. Use a confident, energizing tone that connects daily work across our service centers to our enterprise strategy."</a:t>
            </a:r>
            <a:endParaRPr lang="en-US" sz="1050" dirty="0"/>
          </a:p>
        </p:txBody>
      </p:sp>
      <p:sp>
        <p:nvSpPr>
          <p:cNvPr id="21" name="Shape 19"/>
          <p:cNvSpPr/>
          <p:nvPr/>
        </p:nvSpPr>
        <p:spPr>
          <a:xfrm>
            <a:off x="4069080"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2" name="Shape 20"/>
          <p:cNvSpPr/>
          <p:nvPr/>
        </p:nvSpPr>
        <p:spPr>
          <a:xfrm>
            <a:off x="4069080"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3" name="Text 21"/>
          <p:cNvSpPr/>
          <p:nvPr/>
        </p:nvSpPr>
        <p:spPr>
          <a:xfrm>
            <a:off x="4069080"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4" name="Text 22"/>
          <p:cNvSpPr/>
          <p:nvPr/>
        </p:nvSpPr>
        <p:spPr>
          <a:xfrm>
            <a:off x="4754880"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Industry Crisis Response</a:t>
            </a:r>
            <a:endParaRPr lang="en-US" sz="1400" dirty="0"/>
          </a:p>
        </p:txBody>
      </p:sp>
      <p:sp>
        <p:nvSpPr>
          <p:cNvPr id="25" name="Text 23"/>
          <p:cNvSpPr/>
          <p:nvPr/>
        </p:nvSpPr>
        <p:spPr>
          <a:xfrm>
            <a:off x="4297680"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"Following a trucking-industry safety incident covered in the news, draft a proactive stakeholder communication that (1) acknowledges the broader industry context, (2) reinforces Zava Shipping's safety commitment and record, and (3) provides factual reassurance to customers, communities, and employees."</a:t>
            </a:r>
            <a:endParaRPr lang="en-US" sz="1050" dirty="0"/>
          </a:p>
        </p:txBody>
      </p:sp>
      <p:sp>
        <p:nvSpPr>
          <p:cNvPr id="26" name="Shape 24"/>
          <p:cNvSpPr/>
          <p:nvPr/>
        </p:nvSpPr>
        <p:spPr>
          <a:xfrm>
            <a:off x="8016088"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7" name="Shape 25"/>
          <p:cNvSpPr/>
          <p:nvPr/>
        </p:nvSpPr>
        <p:spPr>
          <a:xfrm>
            <a:off x="8016088"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8" name="Text 26"/>
          <p:cNvSpPr/>
          <p:nvPr/>
        </p:nvSpPr>
        <p:spPr>
          <a:xfrm>
            <a:off x="8016088"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9" name="Text 27"/>
          <p:cNvSpPr/>
          <p:nvPr/>
        </p:nvSpPr>
        <p:spPr>
          <a:xfrm>
            <a:off x="8701888"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Executive Media Briefing</a:t>
            </a:r>
            <a:endParaRPr lang="en-US" sz="1400" dirty="0"/>
          </a:p>
        </p:txBody>
      </p:sp>
      <p:sp>
        <p:nvSpPr>
          <p:cNvPr id="30" name="Text 28"/>
          <p:cNvSpPr/>
          <p:nvPr/>
        </p:nvSpPr>
        <p:spPr>
          <a:xfrm>
            <a:off x="8244688"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"Prepare executive talking points for a media interview at a major supply-chain conference. Focus on Zava Shipping's network investments, service reliability, and technology and sustainability initiatives. Keep each point under three sentences."</a:t>
            </a:r>
            <a:endParaRPr lang="en-US" sz="1050" dirty="0"/>
          </a:p>
        </p:txBody>
      </p:sp>
      <p:sp>
        <p:nvSpPr>
          <p:cNvPr id="31" name="Text 29"/>
          <p:cNvSpPr/>
          <p:nvPr/>
        </p:nvSpPr>
        <p:spPr>
          <a:xfrm>
            <a:off x="4069080" y="6492240"/>
            <a:ext cx="7848295"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Zava Shipping  |  Microsoft 365 Copilot Executive Prompt Guide  |  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2E0854"/>
          </a:solidFill>
          <a:ln/>
        </p:spPr>
        <p:txBody>
          <a:bodyPr/>
          <a:lstStyle/>
          <a:p>
            <a:endParaRPr lang="en-US"/>
          </a:p>
        </p:txBody>
      </p:sp>
      <p:sp>
        <p:nvSpPr>
          <p:cNvPr id="3" name="Shape 1"/>
          <p:cNvSpPr/>
          <p:nvPr/>
        </p:nvSpPr>
        <p:spPr>
          <a:xfrm>
            <a:off x="3657600" y="0"/>
            <a:ext cx="54864" cy="6858000"/>
          </a:xfrm>
          <a:prstGeom prst="rect">
            <a:avLst/>
          </a:prstGeom>
          <a:solidFill>
            <a:srgbClr val="FF6600"/>
          </a:solidFill>
          <a:ln/>
        </p:spPr>
        <p:txBody>
          <a:bodyPr/>
          <a:lstStyle/>
          <a:p>
            <a:endParaRPr lang="en-US"/>
          </a:p>
        </p:txBody>
      </p:sp>
      <p:sp>
        <p:nvSpPr>
          <p:cNvPr id="4" name="Text 2"/>
          <p:cNvSpPr/>
          <p:nvPr/>
        </p:nvSpPr>
        <p:spPr>
          <a:xfrm>
            <a:off x="365760" y="411480"/>
            <a:ext cx="3108960" cy="320040"/>
          </a:xfrm>
          <a:prstGeom prst="rect">
            <a:avLst/>
          </a:prstGeom>
          <a:noFill/>
          <a:ln/>
        </p:spPr>
        <p:txBody>
          <a:bodyPr wrap="square" rtlCol="0" anchor="ctr"/>
          <a:lstStyle/>
          <a:p>
            <a:pPr marL="0" indent="0">
              <a:buNone/>
            </a:pPr>
            <a:r>
              <a:rPr lang="en-US" sz="1200" b="1" kern="0" spc="600" dirty="0">
                <a:solidFill>
                  <a:srgbClr val="FF6600"/>
                </a:solidFill>
                <a:latin typeface="Calibri" pitchFamily="34" charset="0"/>
                <a:ea typeface="Calibri" pitchFamily="34" charset="-122"/>
                <a:cs typeface="Calibri" pitchFamily="34" charset="-120"/>
              </a:rPr>
              <a:t>ZAVA SHIPPING</a:t>
            </a:r>
            <a:endParaRPr lang="en-US" sz="1200" dirty="0"/>
          </a:p>
        </p:txBody>
      </p:sp>
      <p:sp>
        <p:nvSpPr>
          <p:cNvPr id="5" name="Shape 3"/>
          <p:cNvSpPr/>
          <p:nvPr/>
        </p:nvSpPr>
        <p:spPr>
          <a:xfrm>
            <a:off x="365760" y="841248"/>
            <a:ext cx="914400" cy="36576"/>
          </a:xfrm>
          <a:prstGeom prst="rect">
            <a:avLst/>
          </a:prstGeom>
          <a:solidFill>
            <a:srgbClr val="C8102E"/>
          </a:solidFill>
          <a:ln/>
        </p:spPr>
        <p:txBody>
          <a:bodyPr/>
          <a:lstStyle/>
          <a:p>
            <a:endParaRPr lang="en-US"/>
          </a:p>
        </p:txBody>
      </p:sp>
      <p:sp>
        <p:nvSpPr>
          <p:cNvPr id="6" name="Text 4"/>
          <p:cNvSpPr/>
          <p:nvPr/>
        </p:nvSpPr>
        <p:spPr>
          <a:xfrm>
            <a:off x="365760" y="1143000"/>
            <a:ext cx="3108960" cy="13716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Executive Admins &amp; Chiefs of Staff</a:t>
            </a:r>
            <a:endParaRPr lang="en-US" sz="3000" dirty="0"/>
          </a:p>
        </p:txBody>
      </p:sp>
      <p:sp>
        <p:nvSpPr>
          <p:cNvPr id="7" name="Text 5"/>
          <p:cNvSpPr/>
          <p:nvPr/>
        </p:nvSpPr>
        <p:spPr>
          <a:xfrm>
            <a:off x="365760" y="2788920"/>
            <a:ext cx="3108960" cy="731520"/>
          </a:xfrm>
          <a:prstGeom prst="rect">
            <a:avLst/>
          </a:prstGeom>
          <a:noFill/>
          <a:ln/>
        </p:spPr>
        <p:txBody>
          <a:bodyPr wrap="square" rtlCol="0" anchor="ctr"/>
          <a:lstStyle/>
          <a:p>
            <a:pPr marL="0" indent="0">
              <a:buNone/>
            </a:pPr>
            <a:r>
              <a:rPr lang="en-US" sz="1250" i="1" dirty="0">
                <a:solidFill>
                  <a:srgbClr val="FF6600"/>
                </a:solidFill>
                <a:latin typeface="Calibri" pitchFamily="34" charset="0"/>
                <a:ea typeface="Calibri" pitchFamily="34" charset="-122"/>
                <a:cs typeface="Calibri" pitchFamily="34" charset="-120"/>
              </a:rPr>
              <a:t>Executive support  |  Meeting intelligence</a:t>
            </a:r>
            <a:endParaRPr lang="en-US" sz="1250" dirty="0"/>
          </a:p>
          <a:p>
            <a:pPr marL="0" indent="0">
              <a:buNone/>
            </a:pPr>
            <a:r>
              <a:rPr lang="en-US" sz="1250" i="1" dirty="0">
                <a:solidFill>
                  <a:srgbClr val="FF6600"/>
                </a:solidFill>
                <a:latin typeface="Calibri" pitchFamily="34" charset="0"/>
                <a:ea typeface="Calibri" pitchFamily="34" charset="-122"/>
                <a:cs typeface="Calibri" pitchFamily="34" charset="-120"/>
              </a:rPr>
              <a:t>Follow-ups  |  Travel &amp; briefings</a:t>
            </a:r>
            <a:endParaRPr lang="en-US" sz="1250" dirty="0"/>
          </a:p>
        </p:txBody>
      </p:sp>
      <p:sp>
        <p:nvSpPr>
          <p:cNvPr id="8" name="Shape 6"/>
          <p:cNvSpPr/>
          <p:nvPr/>
        </p:nvSpPr>
        <p:spPr>
          <a:xfrm>
            <a:off x="365760" y="3749040"/>
            <a:ext cx="457200" cy="36576"/>
          </a:xfrm>
          <a:prstGeom prst="rect">
            <a:avLst/>
          </a:prstGeom>
          <a:solidFill>
            <a:srgbClr val="C8102E"/>
          </a:solidFill>
          <a:ln/>
        </p:spPr>
        <p:txBody>
          <a:bodyPr/>
          <a:lstStyle/>
          <a:p>
            <a:endParaRPr lang="en-US"/>
          </a:p>
        </p:txBody>
      </p:sp>
      <p:sp>
        <p:nvSpPr>
          <p:cNvPr id="9" name="Text 7"/>
          <p:cNvSpPr/>
          <p:nvPr/>
        </p:nvSpPr>
        <p:spPr>
          <a:xfrm>
            <a:off x="365760" y="3886200"/>
            <a:ext cx="3108960" cy="182880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unsung force-multipliers behind every Zava Shipping leader. These prompts shave hours from the weekly rhythm — calendar triage, briefing prep, follow-up discipline, and travel orchestration across service centers and customer events.</a:t>
            </a:r>
            <a:endParaRPr lang="en-US" sz="1150" dirty="0"/>
          </a:p>
        </p:txBody>
      </p:sp>
      <p:sp>
        <p:nvSpPr>
          <p:cNvPr id="10" name="Text 8"/>
          <p:cNvSpPr/>
          <p:nvPr/>
        </p:nvSpPr>
        <p:spPr>
          <a:xfrm>
            <a:off x="365760" y="6263640"/>
            <a:ext cx="3108960" cy="274320"/>
          </a:xfrm>
          <a:prstGeom prst="rect">
            <a:avLst/>
          </a:prstGeom>
          <a:noFill/>
          <a:ln/>
        </p:spPr>
        <p:txBody>
          <a:bodyPr wrap="square" rtlCol="0" anchor="ctr"/>
          <a:lstStyle/>
          <a:p>
            <a:pPr marL="0" indent="0">
              <a:buNone/>
            </a:pPr>
            <a:r>
              <a:rPr lang="en-US" sz="1000" i="1" dirty="0">
                <a:solidFill>
                  <a:srgbClr val="FF6600"/>
                </a:solidFill>
                <a:latin typeface="Calibri" pitchFamily="34" charset="0"/>
                <a:ea typeface="Calibri" pitchFamily="34" charset="-122"/>
                <a:cs typeface="Calibri" pitchFamily="34" charset="-120"/>
              </a:rPr>
              <a:t>Microsoft 365 Copilot Chat</a:t>
            </a:r>
            <a:endParaRPr lang="en-US" sz="1000" dirty="0"/>
          </a:p>
        </p:txBody>
      </p:sp>
      <p:sp>
        <p:nvSpPr>
          <p:cNvPr id="11" name="Shape 9"/>
          <p:cNvSpPr/>
          <p:nvPr/>
        </p:nvSpPr>
        <p:spPr>
          <a:xfrm>
            <a:off x="4069080"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2" name="Shape 10"/>
          <p:cNvSpPr/>
          <p:nvPr/>
        </p:nvSpPr>
        <p:spPr>
          <a:xfrm>
            <a:off x="4069080"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3" name="Text 11"/>
          <p:cNvSpPr/>
          <p:nvPr/>
        </p:nvSpPr>
        <p:spPr>
          <a:xfrm>
            <a:off x="4069080"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4" name="Text 12"/>
          <p:cNvSpPr/>
          <p:nvPr/>
        </p:nvSpPr>
        <p:spPr>
          <a:xfrm>
            <a:off x="4754880"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Weekly Calendar Review</a:t>
            </a:r>
            <a:endParaRPr lang="en-US" sz="1400" dirty="0"/>
          </a:p>
        </p:txBody>
      </p:sp>
      <p:sp>
        <p:nvSpPr>
          <p:cNvPr id="15" name="Text 13"/>
          <p:cNvSpPr/>
          <p:nvPr/>
        </p:nvSpPr>
        <p:spPr>
          <a:xfrm>
            <a:off x="4297680"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"Review my calendar for this week and identify (1) scheduling conflicts, (2) back-to-back meetings that need transition time, (3) meetings that need prep materials and which ones, and (4) any low-priority items I could reschedule to protect two hours of focus time for the customer business review."</a:t>
            </a:r>
            <a:endParaRPr lang="en-US" sz="1050" dirty="0"/>
          </a:p>
        </p:txBody>
      </p:sp>
      <p:sp>
        <p:nvSpPr>
          <p:cNvPr id="16" name="Shape 14"/>
          <p:cNvSpPr/>
          <p:nvPr/>
        </p:nvSpPr>
        <p:spPr>
          <a:xfrm>
            <a:off x="8016088" y="411480"/>
            <a:ext cx="3764128" cy="2811780"/>
          </a:xfrm>
          <a:prstGeom prst="rect">
            <a:avLst/>
          </a:prstGeom>
          <a:solidFill>
            <a:srgbClr val="F4F6F8"/>
          </a:solidFill>
          <a:ln w="12700">
            <a:solidFill>
              <a:srgbClr val="D7DEE8"/>
            </a:solidFill>
            <a:prstDash val="solid"/>
          </a:ln>
        </p:spPr>
        <p:txBody>
          <a:bodyPr/>
          <a:lstStyle/>
          <a:p>
            <a:endParaRPr lang="en-US"/>
          </a:p>
        </p:txBody>
      </p:sp>
      <p:sp>
        <p:nvSpPr>
          <p:cNvPr id="17" name="Shape 15"/>
          <p:cNvSpPr/>
          <p:nvPr/>
        </p:nvSpPr>
        <p:spPr>
          <a:xfrm>
            <a:off x="8016088" y="411480"/>
            <a:ext cx="548640" cy="548640"/>
          </a:xfrm>
          <a:prstGeom prst="rect">
            <a:avLst/>
          </a:prstGeom>
          <a:solidFill>
            <a:srgbClr val="4D148C"/>
          </a:solidFill>
          <a:ln w="12700">
            <a:solidFill>
              <a:srgbClr val="4D148C"/>
            </a:solidFill>
            <a:prstDash val="solid"/>
          </a:ln>
        </p:spPr>
        <p:txBody>
          <a:bodyPr/>
          <a:lstStyle/>
          <a:p>
            <a:endParaRPr lang="en-US"/>
          </a:p>
        </p:txBody>
      </p:sp>
      <p:sp>
        <p:nvSpPr>
          <p:cNvPr id="18" name="Text 16"/>
          <p:cNvSpPr/>
          <p:nvPr/>
        </p:nvSpPr>
        <p:spPr>
          <a:xfrm>
            <a:off x="8016088" y="41148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9" name="Text 17"/>
          <p:cNvSpPr/>
          <p:nvPr/>
        </p:nvSpPr>
        <p:spPr>
          <a:xfrm>
            <a:off x="8701888" y="45720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Pre-Meeting Executive Brief</a:t>
            </a:r>
            <a:endParaRPr lang="en-US" sz="1400" dirty="0"/>
          </a:p>
        </p:txBody>
      </p:sp>
      <p:sp>
        <p:nvSpPr>
          <p:cNvPr id="20" name="Text 18"/>
          <p:cNvSpPr/>
          <p:nvPr/>
        </p:nvSpPr>
        <p:spPr>
          <a:xfrm>
            <a:off x="8244688" y="109728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"Prepare a one-page briefing for the [executive] ahead of tomorrow's meeting with a top-5 strategic account. Using /[AccountSummary.pdf], include account overview, recent service escalations, key discussion objectives, our strategic asks, and three recommended questions designed to surface their unmet needs."</a:t>
            </a:r>
            <a:endParaRPr lang="en-US" sz="1050" dirty="0"/>
          </a:p>
        </p:txBody>
      </p:sp>
      <p:sp>
        <p:nvSpPr>
          <p:cNvPr id="21" name="Shape 19"/>
          <p:cNvSpPr/>
          <p:nvPr/>
        </p:nvSpPr>
        <p:spPr>
          <a:xfrm>
            <a:off x="4069080"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2" name="Shape 20"/>
          <p:cNvSpPr/>
          <p:nvPr/>
        </p:nvSpPr>
        <p:spPr>
          <a:xfrm>
            <a:off x="4069080"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3" name="Text 21"/>
          <p:cNvSpPr/>
          <p:nvPr/>
        </p:nvSpPr>
        <p:spPr>
          <a:xfrm>
            <a:off x="4069080"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4" name="Text 22"/>
          <p:cNvSpPr/>
          <p:nvPr/>
        </p:nvSpPr>
        <p:spPr>
          <a:xfrm>
            <a:off x="4754880"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Leadership Meeting Follow-Up</a:t>
            </a:r>
            <a:endParaRPr lang="en-US" sz="1400" dirty="0"/>
          </a:p>
        </p:txBody>
      </p:sp>
      <p:sp>
        <p:nvSpPr>
          <p:cNvPr id="25" name="Text 23"/>
          <p:cNvSpPr/>
          <p:nvPr/>
        </p:nvSpPr>
        <p:spPr>
          <a:xfrm>
            <a:off x="4297680"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"Draft a follow-up summary of today's Zava Shipping leadership team meeting. Format it as (1) key decisions made, (2) action items with owners and due dates, (3) cross-region dependencies to track, and (4) escalations for the next CEO 1:1. Keep it concise for distribution to the leadership team."</a:t>
            </a:r>
            <a:endParaRPr lang="en-US" sz="1050" dirty="0"/>
          </a:p>
        </p:txBody>
      </p:sp>
      <p:sp>
        <p:nvSpPr>
          <p:cNvPr id="26" name="Shape 24"/>
          <p:cNvSpPr/>
          <p:nvPr/>
        </p:nvSpPr>
        <p:spPr>
          <a:xfrm>
            <a:off x="8016088" y="3406140"/>
            <a:ext cx="3764128" cy="2811780"/>
          </a:xfrm>
          <a:prstGeom prst="rect">
            <a:avLst/>
          </a:prstGeom>
          <a:solidFill>
            <a:srgbClr val="F4F6F8"/>
          </a:solidFill>
          <a:ln w="12700">
            <a:solidFill>
              <a:srgbClr val="D7DEE8"/>
            </a:solidFill>
            <a:prstDash val="solid"/>
          </a:ln>
        </p:spPr>
        <p:txBody>
          <a:bodyPr/>
          <a:lstStyle/>
          <a:p>
            <a:endParaRPr lang="en-US"/>
          </a:p>
        </p:txBody>
      </p:sp>
      <p:sp>
        <p:nvSpPr>
          <p:cNvPr id="27" name="Shape 25"/>
          <p:cNvSpPr/>
          <p:nvPr/>
        </p:nvSpPr>
        <p:spPr>
          <a:xfrm>
            <a:off x="8016088" y="3406140"/>
            <a:ext cx="548640" cy="548640"/>
          </a:xfrm>
          <a:prstGeom prst="rect">
            <a:avLst/>
          </a:prstGeom>
          <a:solidFill>
            <a:srgbClr val="4D148C"/>
          </a:solidFill>
          <a:ln w="12700">
            <a:solidFill>
              <a:srgbClr val="4D148C"/>
            </a:solidFill>
            <a:prstDash val="solid"/>
          </a:ln>
        </p:spPr>
        <p:txBody>
          <a:bodyPr/>
          <a:lstStyle/>
          <a:p>
            <a:endParaRPr lang="en-US"/>
          </a:p>
        </p:txBody>
      </p:sp>
      <p:sp>
        <p:nvSpPr>
          <p:cNvPr id="28" name="Text 26"/>
          <p:cNvSpPr/>
          <p:nvPr/>
        </p:nvSpPr>
        <p:spPr>
          <a:xfrm>
            <a:off x="8016088" y="3406140"/>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9" name="Text 27"/>
          <p:cNvSpPr/>
          <p:nvPr/>
        </p:nvSpPr>
        <p:spPr>
          <a:xfrm>
            <a:off x="8701888" y="3451860"/>
            <a:ext cx="2986888" cy="502920"/>
          </a:xfrm>
          <a:prstGeom prst="rect">
            <a:avLst/>
          </a:prstGeom>
          <a:noFill/>
          <a:ln/>
        </p:spPr>
        <p:txBody>
          <a:bodyPr wrap="square" rtlCol="0" anchor="ctr"/>
          <a:lstStyle/>
          <a:p>
            <a:pPr marL="0" indent="0">
              <a:buNone/>
            </a:pPr>
            <a:r>
              <a:rPr lang="en-US" sz="1400" b="1" dirty="0">
                <a:solidFill>
                  <a:srgbClr val="2E0854"/>
                </a:solidFill>
                <a:latin typeface="Calibri" pitchFamily="34" charset="0"/>
                <a:ea typeface="Calibri" pitchFamily="34" charset="-122"/>
                <a:cs typeface="Calibri" pitchFamily="34" charset="-120"/>
              </a:rPr>
              <a:t>Service-Center Visit Briefing</a:t>
            </a:r>
            <a:endParaRPr lang="en-US" sz="1400" dirty="0"/>
          </a:p>
        </p:txBody>
      </p:sp>
      <p:sp>
        <p:nvSpPr>
          <p:cNvPr id="30" name="Text 28"/>
          <p:cNvSpPr/>
          <p:nvPr/>
        </p:nvSpPr>
        <p:spPr>
          <a:xfrm>
            <a:off x="8244688" y="4091940"/>
            <a:ext cx="3306928" cy="1988820"/>
          </a:xfrm>
          <a:prstGeom prst="rect">
            <a:avLst/>
          </a:prstGeom>
          <a:noFill/>
          <a:ln/>
        </p:spPr>
        <p:txBody>
          <a:bodyPr wrap="square" rtlCol="0" anchor="t"/>
          <a:lstStyle/>
          <a:p>
            <a:pPr marL="0" indent="0">
              <a:buNone/>
            </a:pPr>
            <a:r>
              <a:rPr lang="en-US" sz="1050" i="1" dirty="0">
                <a:solidFill>
                  <a:srgbClr val="3D4452"/>
                </a:solidFill>
                <a:latin typeface="Calibri" pitchFamily="34" charset="0"/>
                <a:ea typeface="Calibri" pitchFamily="34" charset="-122"/>
                <a:cs typeface="Calibri" pitchFamily="34" charset="-120"/>
              </a:rPr>
              <a:t>"Create a travel briefing for an executive visiting our [City] service center. Include a pre-trip prep checklist, top five internal and external contacts to engage and why, key messages to reinforce (safety, service performance, employee engagement), and a post-trip debrief template."</a:t>
            </a:r>
            <a:endParaRPr lang="en-US" sz="1050" dirty="0"/>
          </a:p>
        </p:txBody>
      </p:sp>
      <p:sp>
        <p:nvSpPr>
          <p:cNvPr id="31" name="Text 29"/>
          <p:cNvSpPr/>
          <p:nvPr/>
        </p:nvSpPr>
        <p:spPr>
          <a:xfrm>
            <a:off x="4069080" y="6492240"/>
            <a:ext cx="7848295"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Zava Shipping  |  Microsoft 365 Copilot Executive Prompt Guide  |  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457200" y="365760"/>
            <a:ext cx="11247120" cy="640080"/>
          </a:xfrm>
          <a:prstGeom prst="rect">
            <a:avLst/>
          </a:prstGeom>
          <a:noFill/>
          <a:ln/>
        </p:spPr>
        <p:txBody>
          <a:bodyPr wrap="square" rtlCol="0" anchor="ctr"/>
          <a:lstStyle/>
          <a:p>
            <a:pPr marL="0" indent="0">
              <a:buNone/>
            </a:pPr>
            <a:r>
              <a:rPr lang="en-US" sz="3200" b="1" dirty="0">
                <a:solidFill>
                  <a:srgbClr val="2E0854"/>
                </a:solidFill>
                <a:latin typeface="Calibri" pitchFamily="34" charset="0"/>
                <a:ea typeface="Calibri" pitchFamily="34" charset="-122"/>
                <a:cs typeface="Calibri" pitchFamily="34" charset="-120"/>
              </a:rPr>
              <a:t>Prompting Best Practices</a:t>
            </a:r>
            <a:endParaRPr lang="en-US" sz="3200" dirty="0"/>
          </a:p>
        </p:txBody>
      </p:sp>
      <p:sp>
        <p:nvSpPr>
          <p:cNvPr id="3" name="Text 1"/>
          <p:cNvSpPr/>
          <p:nvPr/>
        </p:nvSpPr>
        <p:spPr>
          <a:xfrm>
            <a:off x="457200" y="960120"/>
            <a:ext cx="11247120" cy="365760"/>
          </a:xfrm>
          <a:prstGeom prst="rect">
            <a:avLst/>
          </a:prstGeom>
          <a:noFill/>
          <a:ln/>
        </p:spPr>
        <p:txBody>
          <a:bodyPr wrap="square" rtlCol="0" anchor="ctr"/>
          <a:lstStyle/>
          <a:p>
            <a:pPr marL="0" indent="0">
              <a:buNone/>
            </a:pPr>
            <a:r>
              <a:rPr lang="en-US" sz="1400" dirty="0">
                <a:solidFill>
                  <a:srgbClr val="6B7280"/>
                </a:solidFill>
                <a:latin typeface="Calibri" pitchFamily="34" charset="0"/>
                <a:ea typeface="Calibri" pitchFamily="34" charset="-122"/>
                <a:cs typeface="Calibri" pitchFamily="34" charset="-120"/>
              </a:rPr>
              <a:t>Get better results from Copilot every time</a:t>
            </a:r>
            <a:endParaRPr lang="en-US" sz="1400" dirty="0"/>
          </a:p>
        </p:txBody>
      </p:sp>
      <p:sp>
        <p:nvSpPr>
          <p:cNvPr id="4" name="Shape 2"/>
          <p:cNvSpPr/>
          <p:nvPr/>
        </p:nvSpPr>
        <p:spPr>
          <a:xfrm>
            <a:off x="457200" y="1371600"/>
            <a:ext cx="1371600" cy="45720"/>
          </a:xfrm>
          <a:prstGeom prst="rect">
            <a:avLst/>
          </a:prstGeom>
          <a:solidFill>
            <a:srgbClr val="C8102E"/>
          </a:solidFill>
          <a:ln/>
        </p:spPr>
        <p:txBody>
          <a:bodyPr/>
          <a:lstStyle/>
          <a:p>
            <a:endParaRPr lang="en-US"/>
          </a:p>
        </p:txBody>
      </p:sp>
      <p:sp>
        <p:nvSpPr>
          <p:cNvPr id="5" name="Shape 3"/>
          <p:cNvSpPr/>
          <p:nvPr/>
        </p:nvSpPr>
        <p:spPr>
          <a:xfrm>
            <a:off x="457200" y="1828800"/>
            <a:ext cx="3703320" cy="1417320"/>
          </a:xfrm>
          <a:prstGeom prst="rect">
            <a:avLst/>
          </a:prstGeom>
          <a:solidFill>
            <a:srgbClr val="FFFFFF"/>
          </a:solidFill>
          <a:ln w="12700">
            <a:solidFill>
              <a:srgbClr val="D7DEE8"/>
            </a:solidFill>
            <a:prstDash val="solid"/>
          </a:ln>
        </p:spPr>
        <p:txBody>
          <a:bodyPr/>
          <a:lstStyle/>
          <a:p>
            <a:endParaRPr lang="en-US"/>
          </a:p>
        </p:txBody>
      </p:sp>
      <p:sp>
        <p:nvSpPr>
          <p:cNvPr id="6" name="Text 4"/>
          <p:cNvSpPr/>
          <p:nvPr/>
        </p:nvSpPr>
        <p:spPr>
          <a:xfrm>
            <a:off x="640080" y="1965960"/>
            <a:ext cx="640080" cy="457200"/>
          </a:xfrm>
          <a:prstGeom prst="rect">
            <a:avLst/>
          </a:prstGeom>
          <a:noFill/>
          <a:ln/>
        </p:spPr>
        <p:txBody>
          <a:bodyPr wrap="square" rtlCol="0" anchor="ctr"/>
          <a:lstStyle/>
          <a:p>
            <a:pPr marL="0" indent="0">
              <a:buNone/>
            </a:pPr>
            <a:r>
              <a:rPr lang="en-US" sz="2200" b="1" dirty="0">
                <a:solidFill>
                  <a:srgbClr val="FF6600"/>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1325880" y="1965960"/>
            <a:ext cx="2788920" cy="365760"/>
          </a:xfrm>
          <a:prstGeom prst="rect">
            <a:avLst/>
          </a:prstGeom>
          <a:noFill/>
          <a:ln/>
        </p:spPr>
        <p:txBody>
          <a:bodyPr wrap="square" rtlCol="0" anchor="ctr"/>
          <a:lstStyle/>
          <a:p>
            <a:pPr marL="0" indent="0">
              <a:buNone/>
            </a:pPr>
            <a:r>
              <a:rPr lang="en-US" sz="1500" b="1" dirty="0">
                <a:solidFill>
                  <a:srgbClr val="2E0854"/>
                </a:solidFill>
                <a:latin typeface="Calibri" pitchFamily="34" charset="0"/>
                <a:ea typeface="Calibri" pitchFamily="34" charset="-122"/>
                <a:cs typeface="Calibri" pitchFamily="34" charset="-120"/>
              </a:rPr>
              <a:t>Set the Context</a:t>
            </a:r>
            <a:endParaRPr lang="en-US" sz="1500" dirty="0"/>
          </a:p>
        </p:txBody>
      </p:sp>
      <p:sp>
        <p:nvSpPr>
          <p:cNvPr id="8" name="Text 6"/>
          <p:cNvSpPr/>
          <p:nvPr/>
        </p:nvSpPr>
        <p:spPr>
          <a:xfrm>
            <a:off x="640080" y="2468880"/>
            <a:ext cx="3337560" cy="365760"/>
          </a:xfrm>
          <a:prstGeom prst="rect">
            <a:avLst/>
          </a:prstGeom>
          <a:noFill/>
          <a:ln/>
        </p:spPr>
        <p:txBody>
          <a:bodyPr wrap="square" rtlCol="0" anchor="ctr"/>
          <a:lstStyle/>
          <a:p>
            <a:pPr marL="0" indent="0">
              <a:buNone/>
            </a:pPr>
            <a:r>
              <a:rPr lang="en-US" sz="1150" dirty="0">
                <a:solidFill>
                  <a:srgbClr val="3D4452"/>
                </a:solidFill>
                <a:latin typeface="Calibri" pitchFamily="34" charset="0"/>
                <a:ea typeface="Calibri" pitchFamily="34" charset="-122"/>
                <a:cs typeface="Calibri" pitchFamily="34" charset="-120"/>
              </a:rPr>
              <a:t>Start with who you are and what you're trying to accomplish.</a:t>
            </a:r>
            <a:endParaRPr lang="en-US" sz="1150" dirty="0"/>
          </a:p>
        </p:txBody>
      </p:sp>
      <p:sp>
        <p:nvSpPr>
          <p:cNvPr id="9" name="Text 7"/>
          <p:cNvSpPr/>
          <p:nvPr/>
        </p:nvSpPr>
        <p:spPr>
          <a:xfrm>
            <a:off x="640080" y="2788920"/>
            <a:ext cx="3337560" cy="411480"/>
          </a:xfrm>
          <a:prstGeom prst="rect">
            <a:avLst/>
          </a:prstGeom>
          <a:noFill/>
          <a:ln/>
        </p:spPr>
        <p:txBody>
          <a:bodyPr wrap="square" rtlCol="0" anchor="ctr"/>
          <a:lstStyle/>
          <a:p>
            <a:pPr marL="0" indent="0">
              <a:buNone/>
            </a:pPr>
            <a:r>
              <a:rPr lang="en-US" sz="1050" i="1" dirty="0">
                <a:solidFill>
                  <a:srgbClr val="4D148C"/>
                </a:solidFill>
                <a:latin typeface="Calibri" pitchFamily="34" charset="0"/>
                <a:ea typeface="Calibri" pitchFamily="34" charset="-122"/>
                <a:cs typeface="Calibri" pitchFamily="34" charset="-120"/>
              </a:rPr>
              <a:t>"I'm a CFO preparing for the Zava Shipping quarterly review. Help me…"</a:t>
            </a:r>
            <a:endParaRPr lang="en-US" sz="1050" dirty="0"/>
          </a:p>
        </p:txBody>
      </p:sp>
      <p:sp>
        <p:nvSpPr>
          <p:cNvPr id="10" name="Shape 8"/>
          <p:cNvSpPr/>
          <p:nvPr/>
        </p:nvSpPr>
        <p:spPr>
          <a:xfrm>
            <a:off x="4251960" y="1828800"/>
            <a:ext cx="3703320" cy="1417320"/>
          </a:xfrm>
          <a:prstGeom prst="rect">
            <a:avLst/>
          </a:prstGeom>
          <a:solidFill>
            <a:srgbClr val="FFFFFF"/>
          </a:solidFill>
          <a:ln w="12700">
            <a:solidFill>
              <a:srgbClr val="D7DEE8"/>
            </a:solidFill>
            <a:prstDash val="solid"/>
          </a:ln>
        </p:spPr>
        <p:txBody>
          <a:bodyPr/>
          <a:lstStyle/>
          <a:p>
            <a:endParaRPr lang="en-US"/>
          </a:p>
        </p:txBody>
      </p:sp>
      <p:sp>
        <p:nvSpPr>
          <p:cNvPr id="11" name="Text 9"/>
          <p:cNvSpPr/>
          <p:nvPr/>
        </p:nvSpPr>
        <p:spPr>
          <a:xfrm>
            <a:off x="4434840" y="1965960"/>
            <a:ext cx="640080" cy="457200"/>
          </a:xfrm>
          <a:prstGeom prst="rect">
            <a:avLst/>
          </a:prstGeom>
          <a:noFill/>
          <a:ln/>
        </p:spPr>
        <p:txBody>
          <a:bodyPr wrap="square" rtlCol="0" anchor="ctr"/>
          <a:lstStyle/>
          <a:p>
            <a:pPr marL="0" indent="0">
              <a:buNone/>
            </a:pPr>
            <a:r>
              <a:rPr lang="en-US" sz="2200" b="1" dirty="0">
                <a:solidFill>
                  <a:srgbClr val="FF6600"/>
                </a:solidFill>
                <a:latin typeface="Calibri" pitchFamily="34" charset="0"/>
                <a:ea typeface="Calibri" pitchFamily="34" charset="-122"/>
                <a:cs typeface="Calibri" pitchFamily="34" charset="-120"/>
              </a:rPr>
              <a:t>02</a:t>
            </a:r>
            <a:endParaRPr lang="en-US" sz="2200" dirty="0"/>
          </a:p>
        </p:txBody>
      </p:sp>
      <p:sp>
        <p:nvSpPr>
          <p:cNvPr id="12" name="Text 10"/>
          <p:cNvSpPr/>
          <p:nvPr/>
        </p:nvSpPr>
        <p:spPr>
          <a:xfrm>
            <a:off x="5120640" y="1965960"/>
            <a:ext cx="2788920" cy="365760"/>
          </a:xfrm>
          <a:prstGeom prst="rect">
            <a:avLst/>
          </a:prstGeom>
          <a:noFill/>
          <a:ln/>
        </p:spPr>
        <p:txBody>
          <a:bodyPr wrap="square" rtlCol="0" anchor="ctr"/>
          <a:lstStyle/>
          <a:p>
            <a:pPr marL="0" indent="0">
              <a:buNone/>
            </a:pPr>
            <a:r>
              <a:rPr lang="en-US" sz="1500" b="1" dirty="0">
                <a:solidFill>
                  <a:srgbClr val="2E0854"/>
                </a:solidFill>
                <a:latin typeface="Calibri" pitchFamily="34" charset="0"/>
                <a:ea typeface="Calibri" pitchFamily="34" charset="-122"/>
                <a:cs typeface="Calibri" pitchFamily="34" charset="-120"/>
              </a:rPr>
              <a:t>Be Specific</a:t>
            </a:r>
            <a:endParaRPr lang="en-US" sz="1500" dirty="0"/>
          </a:p>
        </p:txBody>
      </p:sp>
      <p:sp>
        <p:nvSpPr>
          <p:cNvPr id="13" name="Text 11"/>
          <p:cNvSpPr/>
          <p:nvPr/>
        </p:nvSpPr>
        <p:spPr>
          <a:xfrm>
            <a:off x="4434840" y="2468880"/>
            <a:ext cx="3337560" cy="365760"/>
          </a:xfrm>
          <a:prstGeom prst="rect">
            <a:avLst/>
          </a:prstGeom>
          <a:noFill/>
          <a:ln/>
        </p:spPr>
        <p:txBody>
          <a:bodyPr wrap="square" rtlCol="0" anchor="ctr"/>
          <a:lstStyle/>
          <a:p>
            <a:pPr marL="0" indent="0">
              <a:buNone/>
            </a:pPr>
            <a:r>
              <a:rPr lang="en-US" sz="1150" dirty="0">
                <a:solidFill>
                  <a:srgbClr val="3D4452"/>
                </a:solidFill>
                <a:latin typeface="Calibri" pitchFamily="34" charset="0"/>
                <a:ea typeface="Calibri" pitchFamily="34" charset="-122"/>
                <a:cs typeface="Calibri" pitchFamily="34" charset="-120"/>
              </a:rPr>
              <a:t>The more detail you give, the more precise the output.</a:t>
            </a:r>
            <a:endParaRPr lang="en-US" sz="1150" dirty="0"/>
          </a:p>
        </p:txBody>
      </p:sp>
      <p:sp>
        <p:nvSpPr>
          <p:cNvPr id="14" name="Text 12"/>
          <p:cNvSpPr/>
          <p:nvPr/>
        </p:nvSpPr>
        <p:spPr>
          <a:xfrm>
            <a:off x="4434840" y="2788920"/>
            <a:ext cx="3337560" cy="411480"/>
          </a:xfrm>
          <a:prstGeom prst="rect">
            <a:avLst/>
          </a:prstGeom>
          <a:noFill/>
          <a:ln/>
        </p:spPr>
        <p:txBody>
          <a:bodyPr wrap="square" rtlCol="0" anchor="ctr"/>
          <a:lstStyle/>
          <a:p>
            <a:pPr marL="0" indent="0">
              <a:buNone/>
            </a:pPr>
            <a:r>
              <a:rPr lang="en-US" sz="1050" i="1" dirty="0">
                <a:solidFill>
                  <a:srgbClr val="4D148C"/>
                </a:solidFill>
                <a:latin typeface="Calibri" pitchFamily="34" charset="0"/>
                <a:ea typeface="Calibri" pitchFamily="34" charset="-122"/>
                <a:cs typeface="Calibri" pitchFamily="34" charset="-120"/>
              </a:rPr>
              <a:t>Include audience, format, tone, and length requirements.</a:t>
            </a:r>
            <a:endParaRPr lang="en-US" sz="1050" dirty="0"/>
          </a:p>
        </p:txBody>
      </p:sp>
      <p:sp>
        <p:nvSpPr>
          <p:cNvPr id="15" name="Shape 13"/>
          <p:cNvSpPr/>
          <p:nvPr/>
        </p:nvSpPr>
        <p:spPr>
          <a:xfrm>
            <a:off x="8046720" y="1828800"/>
            <a:ext cx="3703320" cy="1417320"/>
          </a:xfrm>
          <a:prstGeom prst="rect">
            <a:avLst/>
          </a:prstGeom>
          <a:solidFill>
            <a:srgbClr val="FFFFFF"/>
          </a:solidFill>
          <a:ln w="12700">
            <a:solidFill>
              <a:srgbClr val="D7DEE8"/>
            </a:solidFill>
            <a:prstDash val="solid"/>
          </a:ln>
        </p:spPr>
        <p:txBody>
          <a:bodyPr/>
          <a:lstStyle/>
          <a:p>
            <a:endParaRPr lang="en-US"/>
          </a:p>
        </p:txBody>
      </p:sp>
      <p:sp>
        <p:nvSpPr>
          <p:cNvPr id="16" name="Text 14"/>
          <p:cNvSpPr/>
          <p:nvPr/>
        </p:nvSpPr>
        <p:spPr>
          <a:xfrm>
            <a:off x="8229600" y="1965960"/>
            <a:ext cx="640080" cy="457200"/>
          </a:xfrm>
          <a:prstGeom prst="rect">
            <a:avLst/>
          </a:prstGeom>
          <a:noFill/>
          <a:ln/>
        </p:spPr>
        <p:txBody>
          <a:bodyPr wrap="square" rtlCol="0" anchor="ctr"/>
          <a:lstStyle/>
          <a:p>
            <a:pPr marL="0" indent="0">
              <a:buNone/>
            </a:pPr>
            <a:r>
              <a:rPr lang="en-US" sz="2200" b="1" dirty="0">
                <a:solidFill>
                  <a:srgbClr val="FF6600"/>
                </a:solidFill>
                <a:latin typeface="Calibri" pitchFamily="34" charset="0"/>
                <a:ea typeface="Calibri" pitchFamily="34" charset="-122"/>
                <a:cs typeface="Calibri" pitchFamily="34" charset="-120"/>
              </a:rPr>
              <a:t>03</a:t>
            </a:r>
            <a:endParaRPr lang="en-US" sz="2200" dirty="0"/>
          </a:p>
        </p:txBody>
      </p:sp>
      <p:sp>
        <p:nvSpPr>
          <p:cNvPr id="17" name="Text 15"/>
          <p:cNvSpPr/>
          <p:nvPr/>
        </p:nvSpPr>
        <p:spPr>
          <a:xfrm>
            <a:off x="8915400" y="1965960"/>
            <a:ext cx="2788920" cy="365760"/>
          </a:xfrm>
          <a:prstGeom prst="rect">
            <a:avLst/>
          </a:prstGeom>
          <a:noFill/>
          <a:ln/>
        </p:spPr>
        <p:txBody>
          <a:bodyPr wrap="square" rtlCol="0" anchor="ctr"/>
          <a:lstStyle/>
          <a:p>
            <a:pPr marL="0" indent="0">
              <a:buNone/>
            </a:pPr>
            <a:r>
              <a:rPr lang="en-US" sz="1500" b="1" dirty="0">
                <a:solidFill>
                  <a:srgbClr val="2E0854"/>
                </a:solidFill>
                <a:latin typeface="Calibri" pitchFamily="34" charset="0"/>
                <a:ea typeface="Calibri" pitchFamily="34" charset="-122"/>
                <a:cs typeface="Calibri" pitchFamily="34" charset="-120"/>
              </a:rPr>
              <a:t>Attach Your Files</a:t>
            </a:r>
            <a:endParaRPr lang="en-US" sz="1500" dirty="0"/>
          </a:p>
        </p:txBody>
      </p:sp>
      <p:sp>
        <p:nvSpPr>
          <p:cNvPr id="18" name="Text 16"/>
          <p:cNvSpPr/>
          <p:nvPr/>
        </p:nvSpPr>
        <p:spPr>
          <a:xfrm>
            <a:off x="8229600" y="2468880"/>
            <a:ext cx="3337560" cy="365760"/>
          </a:xfrm>
          <a:prstGeom prst="rect">
            <a:avLst/>
          </a:prstGeom>
          <a:noFill/>
          <a:ln/>
        </p:spPr>
        <p:txBody>
          <a:bodyPr wrap="square" rtlCol="0" anchor="ctr"/>
          <a:lstStyle/>
          <a:p>
            <a:pPr marL="0" indent="0">
              <a:buNone/>
            </a:pPr>
            <a:r>
              <a:rPr lang="en-US" sz="1150" dirty="0">
                <a:solidFill>
                  <a:srgbClr val="3D4452"/>
                </a:solidFill>
                <a:latin typeface="Calibri" pitchFamily="34" charset="0"/>
                <a:ea typeface="Calibri" pitchFamily="34" charset="-122"/>
                <a:cs typeface="Calibri" pitchFamily="34" charset="-120"/>
              </a:rPr>
              <a:t>Ground Copilot in your actual data using /[filename].</a:t>
            </a:r>
            <a:endParaRPr lang="en-US" sz="1150" dirty="0"/>
          </a:p>
        </p:txBody>
      </p:sp>
      <p:sp>
        <p:nvSpPr>
          <p:cNvPr id="19" name="Text 17"/>
          <p:cNvSpPr/>
          <p:nvPr/>
        </p:nvSpPr>
        <p:spPr>
          <a:xfrm>
            <a:off x="8229600" y="2788920"/>
            <a:ext cx="3337560" cy="411480"/>
          </a:xfrm>
          <a:prstGeom prst="rect">
            <a:avLst/>
          </a:prstGeom>
          <a:noFill/>
          <a:ln/>
        </p:spPr>
        <p:txBody>
          <a:bodyPr wrap="square" rtlCol="0" anchor="ctr"/>
          <a:lstStyle/>
          <a:p>
            <a:pPr marL="0" indent="0">
              <a:buNone/>
            </a:pPr>
            <a:r>
              <a:rPr lang="en-US" sz="1050" i="1" dirty="0">
                <a:solidFill>
                  <a:srgbClr val="4D148C"/>
                </a:solidFill>
                <a:latin typeface="Calibri" pitchFamily="34" charset="0"/>
                <a:ea typeface="Calibri" pitchFamily="34" charset="-122"/>
                <a:cs typeface="Calibri" pitchFamily="34" charset="-120"/>
              </a:rPr>
              <a:t>PDFs, Excel, Word docs, and decks can be referenced directly.</a:t>
            </a:r>
            <a:endParaRPr lang="en-US" sz="1050" dirty="0"/>
          </a:p>
        </p:txBody>
      </p:sp>
      <p:sp>
        <p:nvSpPr>
          <p:cNvPr id="20" name="Shape 18"/>
          <p:cNvSpPr/>
          <p:nvPr/>
        </p:nvSpPr>
        <p:spPr>
          <a:xfrm>
            <a:off x="457200" y="3383280"/>
            <a:ext cx="3703320" cy="1417320"/>
          </a:xfrm>
          <a:prstGeom prst="rect">
            <a:avLst/>
          </a:prstGeom>
          <a:solidFill>
            <a:srgbClr val="FFFFFF"/>
          </a:solidFill>
          <a:ln w="12700">
            <a:solidFill>
              <a:srgbClr val="D7DEE8"/>
            </a:solidFill>
            <a:prstDash val="solid"/>
          </a:ln>
        </p:spPr>
        <p:txBody>
          <a:bodyPr/>
          <a:lstStyle/>
          <a:p>
            <a:endParaRPr lang="en-US"/>
          </a:p>
        </p:txBody>
      </p:sp>
      <p:sp>
        <p:nvSpPr>
          <p:cNvPr id="21" name="Text 19"/>
          <p:cNvSpPr/>
          <p:nvPr/>
        </p:nvSpPr>
        <p:spPr>
          <a:xfrm>
            <a:off x="640080" y="3520440"/>
            <a:ext cx="640080" cy="457200"/>
          </a:xfrm>
          <a:prstGeom prst="rect">
            <a:avLst/>
          </a:prstGeom>
          <a:noFill/>
          <a:ln/>
        </p:spPr>
        <p:txBody>
          <a:bodyPr wrap="square" rtlCol="0" anchor="ctr"/>
          <a:lstStyle/>
          <a:p>
            <a:pPr marL="0" indent="0">
              <a:buNone/>
            </a:pPr>
            <a:r>
              <a:rPr lang="en-US" sz="2200" b="1" dirty="0">
                <a:solidFill>
                  <a:srgbClr val="FF6600"/>
                </a:solidFill>
                <a:latin typeface="Calibri" pitchFamily="34" charset="0"/>
                <a:ea typeface="Calibri" pitchFamily="34" charset="-122"/>
                <a:cs typeface="Calibri" pitchFamily="34" charset="-120"/>
              </a:rPr>
              <a:t>04</a:t>
            </a:r>
            <a:endParaRPr lang="en-US" sz="2200" dirty="0"/>
          </a:p>
        </p:txBody>
      </p:sp>
      <p:sp>
        <p:nvSpPr>
          <p:cNvPr id="22" name="Text 20"/>
          <p:cNvSpPr/>
          <p:nvPr/>
        </p:nvSpPr>
        <p:spPr>
          <a:xfrm>
            <a:off x="1325880" y="3520440"/>
            <a:ext cx="2788920" cy="365760"/>
          </a:xfrm>
          <a:prstGeom prst="rect">
            <a:avLst/>
          </a:prstGeom>
          <a:noFill/>
          <a:ln/>
        </p:spPr>
        <p:txBody>
          <a:bodyPr wrap="square" rtlCol="0" anchor="ctr"/>
          <a:lstStyle/>
          <a:p>
            <a:pPr marL="0" indent="0">
              <a:buNone/>
            </a:pPr>
            <a:r>
              <a:rPr lang="en-US" sz="1500" b="1" dirty="0">
                <a:solidFill>
                  <a:srgbClr val="2E0854"/>
                </a:solidFill>
                <a:latin typeface="Calibri" pitchFamily="34" charset="0"/>
                <a:ea typeface="Calibri" pitchFamily="34" charset="-122"/>
                <a:cs typeface="Calibri" pitchFamily="34" charset="-120"/>
              </a:rPr>
              <a:t>Iterate &amp; Refine</a:t>
            </a:r>
            <a:endParaRPr lang="en-US" sz="1500" dirty="0"/>
          </a:p>
        </p:txBody>
      </p:sp>
      <p:sp>
        <p:nvSpPr>
          <p:cNvPr id="23" name="Text 21"/>
          <p:cNvSpPr/>
          <p:nvPr/>
        </p:nvSpPr>
        <p:spPr>
          <a:xfrm>
            <a:off x="640080" y="4023360"/>
            <a:ext cx="3337560" cy="365760"/>
          </a:xfrm>
          <a:prstGeom prst="rect">
            <a:avLst/>
          </a:prstGeom>
          <a:noFill/>
          <a:ln/>
        </p:spPr>
        <p:txBody>
          <a:bodyPr wrap="square" rtlCol="0" anchor="ctr"/>
          <a:lstStyle/>
          <a:p>
            <a:pPr marL="0" indent="0">
              <a:buNone/>
            </a:pPr>
            <a:r>
              <a:rPr lang="en-US" sz="1150" dirty="0">
                <a:solidFill>
                  <a:srgbClr val="3D4452"/>
                </a:solidFill>
                <a:latin typeface="Calibri" pitchFamily="34" charset="0"/>
                <a:ea typeface="Calibri" pitchFamily="34" charset="-122"/>
                <a:cs typeface="Calibri" pitchFamily="34" charset="-120"/>
              </a:rPr>
              <a:t>Treat the first response as a draft.</a:t>
            </a:r>
            <a:endParaRPr lang="en-US" sz="1150" dirty="0"/>
          </a:p>
        </p:txBody>
      </p:sp>
      <p:sp>
        <p:nvSpPr>
          <p:cNvPr id="24" name="Text 22"/>
          <p:cNvSpPr/>
          <p:nvPr/>
        </p:nvSpPr>
        <p:spPr>
          <a:xfrm>
            <a:off x="640080" y="4343400"/>
            <a:ext cx="3337560" cy="411480"/>
          </a:xfrm>
          <a:prstGeom prst="rect">
            <a:avLst/>
          </a:prstGeom>
          <a:noFill/>
          <a:ln/>
        </p:spPr>
        <p:txBody>
          <a:bodyPr wrap="square" rtlCol="0" anchor="ctr"/>
          <a:lstStyle/>
          <a:p>
            <a:pPr marL="0" indent="0">
              <a:buNone/>
            </a:pPr>
            <a:r>
              <a:rPr lang="en-US" sz="1050" i="1" dirty="0">
                <a:solidFill>
                  <a:srgbClr val="4D148C"/>
                </a:solidFill>
                <a:latin typeface="Calibri" pitchFamily="34" charset="0"/>
                <a:ea typeface="Calibri" pitchFamily="34" charset="-122"/>
                <a:cs typeface="Calibri" pitchFamily="34" charset="-120"/>
              </a:rPr>
              <a:t>"Make this more concise." "Add a table." "Use a board tone."</a:t>
            </a:r>
            <a:endParaRPr lang="en-US" sz="1050" dirty="0"/>
          </a:p>
        </p:txBody>
      </p:sp>
      <p:sp>
        <p:nvSpPr>
          <p:cNvPr id="25" name="Shape 23"/>
          <p:cNvSpPr/>
          <p:nvPr/>
        </p:nvSpPr>
        <p:spPr>
          <a:xfrm>
            <a:off x="4251960" y="3383280"/>
            <a:ext cx="3703320" cy="1417320"/>
          </a:xfrm>
          <a:prstGeom prst="rect">
            <a:avLst/>
          </a:prstGeom>
          <a:solidFill>
            <a:srgbClr val="FFFFFF"/>
          </a:solidFill>
          <a:ln w="12700">
            <a:solidFill>
              <a:srgbClr val="D7DEE8"/>
            </a:solidFill>
            <a:prstDash val="solid"/>
          </a:ln>
        </p:spPr>
        <p:txBody>
          <a:bodyPr/>
          <a:lstStyle/>
          <a:p>
            <a:endParaRPr lang="en-US"/>
          </a:p>
        </p:txBody>
      </p:sp>
      <p:sp>
        <p:nvSpPr>
          <p:cNvPr id="26" name="Text 24"/>
          <p:cNvSpPr/>
          <p:nvPr/>
        </p:nvSpPr>
        <p:spPr>
          <a:xfrm>
            <a:off x="4434840" y="3520440"/>
            <a:ext cx="640080" cy="457200"/>
          </a:xfrm>
          <a:prstGeom prst="rect">
            <a:avLst/>
          </a:prstGeom>
          <a:noFill/>
          <a:ln/>
        </p:spPr>
        <p:txBody>
          <a:bodyPr wrap="square" rtlCol="0" anchor="ctr"/>
          <a:lstStyle/>
          <a:p>
            <a:pPr marL="0" indent="0">
              <a:buNone/>
            </a:pPr>
            <a:r>
              <a:rPr lang="en-US" sz="2200" b="1" dirty="0">
                <a:solidFill>
                  <a:srgbClr val="FF6600"/>
                </a:solidFill>
                <a:latin typeface="Calibri" pitchFamily="34" charset="0"/>
                <a:ea typeface="Calibri" pitchFamily="34" charset="-122"/>
                <a:cs typeface="Calibri" pitchFamily="34" charset="-120"/>
              </a:rPr>
              <a:t>05</a:t>
            </a:r>
            <a:endParaRPr lang="en-US" sz="2200" dirty="0"/>
          </a:p>
        </p:txBody>
      </p:sp>
      <p:sp>
        <p:nvSpPr>
          <p:cNvPr id="27" name="Text 25"/>
          <p:cNvSpPr/>
          <p:nvPr/>
        </p:nvSpPr>
        <p:spPr>
          <a:xfrm>
            <a:off x="5120640" y="3520440"/>
            <a:ext cx="2788920" cy="365760"/>
          </a:xfrm>
          <a:prstGeom prst="rect">
            <a:avLst/>
          </a:prstGeom>
          <a:noFill/>
          <a:ln/>
        </p:spPr>
        <p:txBody>
          <a:bodyPr wrap="square" rtlCol="0" anchor="ctr"/>
          <a:lstStyle/>
          <a:p>
            <a:pPr marL="0" indent="0">
              <a:buNone/>
            </a:pPr>
            <a:r>
              <a:rPr lang="en-US" sz="1500" b="1" dirty="0">
                <a:solidFill>
                  <a:srgbClr val="2E0854"/>
                </a:solidFill>
                <a:latin typeface="Calibri" pitchFamily="34" charset="0"/>
                <a:ea typeface="Calibri" pitchFamily="34" charset="-122"/>
                <a:cs typeface="Calibri" pitchFamily="34" charset="-120"/>
              </a:rPr>
              <a:t>Ask for Options</a:t>
            </a:r>
            <a:endParaRPr lang="en-US" sz="1500" dirty="0"/>
          </a:p>
        </p:txBody>
      </p:sp>
      <p:sp>
        <p:nvSpPr>
          <p:cNvPr id="28" name="Text 26"/>
          <p:cNvSpPr/>
          <p:nvPr/>
        </p:nvSpPr>
        <p:spPr>
          <a:xfrm>
            <a:off x="4434840" y="4023360"/>
            <a:ext cx="3337560" cy="365760"/>
          </a:xfrm>
          <a:prstGeom prst="rect">
            <a:avLst/>
          </a:prstGeom>
          <a:noFill/>
          <a:ln/>
        </p:spPr>
        <p:txBody>
          <a:bodyPr wrap="square" rtlCol="0" anchor="ctr"/>
          <a:lstStyle/>
          <a:p>
            <a:pPr marL="0" indent="0">
              <a:buNone/>
            </a:pPr>
            <a:r>
              <a:rPr lang="en-US" sz="1150" dirty="0">
                <a:solidFill>
                  <a:srgbClr val="3D4452"/>
                </a:solidFill>
                <a:latin typeface="Calibri" pitchFamily="34" charset="0"/>
                <a:ea typeface="Calibri" pitchFamily="34" charset="-122"/>
                <a:cs typeface="Calibri" pitchFamily="34" charset="-120"/>
              </a:rPr>
              <a:t>Request multiple versions when you're unsure.</a:t>
            </a:r>
            <a:endParaRPr lang="en-US" sz="1150" dirty="0"/>
          </a:p>
        </p:txBody>
      </p:sp>
      <p:sp>
        <p:nvSpPr>
          <p:cNvPr id="29" name="Text 27"/>
          <p:cNvSpPr/>
          <p:nvPr/>
        </p:nvSpPr>
        <p:spPr>
          <a:xfrm>
            <a:off x="4434840" y="4343400"/>
            <a:ext cx="3337560" cy="411480"/>
          </a:xfrm>
          <a:prstGeom prst="rect">
            <a:avLst/>
          </a:prstGeom>
          <a:noFill/>
          <a:ln/>
        </p:spPr>
        <p:txBody>
          <a:bodyPr wrap="square" rtlCol="0" anchor="ctr"/>
          <a:lstStyle/>
          <a:p>
            <a:pPr marL="0" indent="0">
              <a:buNone/>
            </a:pPr>
            <a:r>
              <a:rPr lang="en-US" sz="1050" i="1" dirty="0">
                <a:solidFill>
                  <a:srgbClr val="4D148C"/>
                </a:solidFill>
                <a:latin typeface="Calibri" pitchFamily="34" charset="0"/>
                <a:ea typeface="Calibri" pitchFamily="34" charset="-122"/>
                <a:cs typeface="Calibri" pitchFamily="34" charset="-120"/>
              </a:rPr>
              <a:t>"Give me three different versions of this message."</a:t>
            </a:r>
            <a:endParaRPr lang="en-US" sz="1050" dirty="0"/>
          </a:p>
        </p:txBody>
      </p:sp>
      <p:sp>
        <p:nvSpPr>
          <p:cNvPr id="30" name="Shape 28"/>
          <p:cNvSpPr/>
          <p:nvPr/>
        </p:nvSpPr>
        <p:spPr>
          <a:xfrm>
            <a:off x="8046720" y="3383280"/>
            <a:ext cx="3703320" cy="1417320"/>
          </a:xfrm>
          <a:prstGeom prst="rect">
            <a:avLst/>
          </a:prstGeom>
          <a:solidFill>
            <a:srgbClr val="FFFFFF"/>
          </a:solidFill>
          <a:ln w="12700">
            <a:solidFill>
              <a:srgbClr val="D7DEE8"/>
            </a:solidFill>
            <a:prstDash val="solid"/>
          </a:ln>
        </p:spPr>
        <p:txBody>
          <a:bodyPr/>
          <a:lstStyle/>
          <a:p>
            <a:endParaRPr lang="en-US"/>
          </a:p>
        </p:txBody>
      </p:sp>
      <p:sp>
        <p:nvSpPr>
          <p:cNvPr id="31" name="Text 29"/>
          <p:cNvSpPr/>
          <p:nvPr/>
        </p:nvSpPr>
        <p:spPr>
          <a:xfrm>
            <a:off x="8229600" y="3520440"/>
            <a:ext cx="640080" cy="457200"/>
          </a:xfrm>
          <a:prstGeom prst="rect">
            <a:avLst/>
          </a:prstGeom>
          <a:noFill/>
          <a:ln/>
        </p:spPr>
        <p:txBody>
          <a:bodyPr wrap="square" rtlCol="0" anchor="ctr"/>
          <a:lstStyle/>
          <a:p>
            <a:pPr marL="0" indent="0">
              <a:buNone/>
            </a:pPr>
            <a:r>
              <a:rPr lang="en-US" sz="2200" b="1" dirty="0">
                <a:solidFill>
                  <a:srgbClr val="FF6600"/>
                </a:solidFill>
                <a:latin typeface="Calibri" pitchFamily="34" charset="0"/>
                <a:ea typeface="Calibri" pitchFamily="34" charset="-122"/>
                <a:cs typeface="Calibri" pitchFamily="34" charset="-120"/>
              </a:rPr>
              <a:t>06</a:t>
            </a:r>
            <a:endParaRPr lang="en-US" sz="2200" dirty="0"/>
          </a:p>
        </p:txBody>
      </p:sp>
      <p:sp>
        <p:nvSpPr>
          <p:cNvPr id="32" name="Text 30"/>
          <p:cNvSpPr/>
          <p:nvPr/>
        </p:nvSpPr>
        <p:spPr>
          <a:xfrm>
            <a:off x="8915400" y="3520440"/>
            <a:ext cx="2788920" cy="365760"/>
          </a:xfrm>
          <a:prstGeom prst="rect">
            <a:avLst/>
          </a:prstGeom>
          <a:noFill/>
          <a:ln/>
        </p:spPr>
        <p:txBody>
          <a:bodyPr wrap="square" rtlCol="0" anchor="ctr"/>
          <a:lstStyle/>
          <a:p>
            <a:pPr marL="0" indent="0">
              <a:buNone/>
            </a:pPr>
            <a:r>
              <a:rPr lang="en-US" sz="1500" b="1" dirty="0">
                <a:solidFill>
                  <a:srgbClr val="2E0854"/>
                </a:solidFill>
                <a:latin typeface="Calibri" pitchFamily="34" charset="0"/>
                <a:ea typeface="Calibri" pitchFamily="34" charset="-122"/>
                <a:cs typeface="Calibri" pitchFamily="34" charset="-120"/>
              </a:rPr>
              <a:t>Validate the Output</a:t>
            </a:r>
            <a:endParaRPr lang="en-US" sz="1500" dirty="0"/>
          </a:p>
        </p:txBody>
      </p:sp>
      <p:sp>
        <p:nvSpPr>
          <p:cNvPr id="33" name="Text 31"/>
          <p:cNvSpPr/>
          <p:nvPr/>
        </p:nvSpPr>
        <p:spPr>
          <a:xfrm>
            <a:off x="8229600" y="4023360"/>
            <a:ext cx="3337560" cy="365760"/>
          </a:xfrm>
          <a:prstGeom prst="rect">
            <a:avLst/>
          </a:prstGeom>
          <a:noFill/>
          <a:ln/>
        </p:spPr>
        <p:txBody>
          <a:bodyPr wrap="square" rtlCol="0" anchor="ctr"/>
          <a:lstStyle/>
          <a:p>
            <a:pPr marL="0" indent="0">
              <a:buNone/>
            </a:pPr>
            <a:r>
              <a:rPr lang="en-US" sz="1150" dirty="0">
                <a:solidFill>
                  <a:srgbClr val="3D4452"/>
                </a:solidFill>
                <a:latin typeface="Calibri" pitchFamily="34" charset="0"/>
                <a:ea typeface="Calibri" pitchFamily="34" charset="-122"/>
                <a:cs typeface="Calibri" pitchFamily="34" charset="-120"/>
              </a:rPr>
              <a:t>Always review AI-generated content before sharing.</a:t>
            </a:r>
            <a:endParaRPr lang="en-US" sz="1150" dirty="0"/>
          </a:p>
        </p:txBody>
      </p:sp>
      <p:sp>
        <p:nvSpPr>
          <p:cNvPr id="34" name="Text 32"/>
          <p:cNvSpPr/>
          <p:nvPr/>
        </p:nvSpPr>
        <p:spPr>
          <a:xfrm>
            <a:off x="8229600" y="4343400"/>
            <a:ext cx="3337560" cy="411480"/>
          </a:xfrm>
          <a:prstGeom prst="rect">
            <a:avLst/>
          </a:prstGeom>
          <a:noFill/>
          <a:ln/>
        </p:spPr>
        <p:txBody>
          <a:bodyPr wrap="square" rtlCol="0" anchor="ctr"/>
          <a:lstStyle/>
          <a:p>
            <a:pPr marL="0" indent="0">
              <a:buNone/>
            </a:pPr>
            <a:r>
              <a:rPr lang="en-US" sz="1050" i="1" dirty="0">
                <a:solidFill>
                  <a:srgbClr val="4D148C"/>
                </a:solidFill>
                <a:latin typeface="Calibri" pitchFamily="34" charset="0"/>
                <a:ea typeface="Calibri" pitchFamily="34" charset="-122"/>
                <a:cs typeface="Calibri" pitchFamily="34" charset="-120"/>
              </a:rPr>
              <a:t>Copilot assists your thinking — final judgment is yours.</a:t>
            </a:r>
            <a:endParaRPr lang="en-US" sz="1050" dirty="0"/>
          </a:p>
        </p:txBody>
      </p:sp>
      <p:sp>
        <p:nvSpPr>
          <p:cNvPr id="35" name="Shape 33"/>
          <p:cNvSpPr/>
          <p:nvPr/>
        </p:nvSpPr>
        <p:spPr>
          <a:xfrm>
            <a:off x="457200" y="5074920"/>
            <a:ext cx="11247120" cy="1005840"/>
          </a:xfrm>
          <a:prstGeom prst="rect">
            <a:avLst/>
          </a:prstGeom>
          <a:solidFill>
            <a:srgbClr val="2E0854"/>
          </a:solidFill>
          <a:ln w="12700">
            <a:solidFill>
              <a:srgbClr val="2E0854"/>
            </a:solidFill>
            <a:prstDash val="solid"/>
          </a:ln>
        </p:spPr>
        <p:txBody>
          <a:bodyPr/>
          <a:lstStyle/>
          <a:p>
            <a:endParaRPr lang="en-US"/>
          </a:p>
        </p:txBody>
      </p:sp>
      <p:sp>
        <p:nvSpPr>
          <p:cNvPr id="36" name="Shape 34"/>
          <p:cNvSpPr/>
          <p:nvPr/>
        </p:nvSpPr>
        <p:spPr>
          <a:xfrm>
            <a:off x="457200" y="5074920"/>
            <a:ext cx="109728" cy="1005840"/>
          </a:xfrm>
          <a:prstGeom prst="rect">
            <a:avLst/>
          </a:prstGeom>
          <a:solidFill>
            <a:srgbClr val="C8102E"/>
          </a:solidFill>
          <a:ln/>
        </p:spPr>
        <p:txBody>
          <a:bodyPr/>
          <a:lstStyle/>
          <a:p>
            <a:endParaRPr lang="en-US"/>
          </a:p>
        </p:txBody>
      </p:sp>
      <p:sp>
        <p:nvSpPr>
          <p:cNvPr id="37" name="Text 35"/>
          <p:cNvSpPr/>
          <p:nvPr/>
        </p:nvSpPr>
        <p:spPr>
          <a:xfrm>
            <a:off x="777240" y="5074920"/>
            <a:ext cx="1280160" cy="1005840"/>
          </a:xfrm>
          <a:prstGeom prst="rect">
            <a:avLst/>
          </a:prstGeom>
          <a:noFill/>
          <a:ln/>
        </p:spPr>
        <p:txBody>
          <a:bodyPr wrap="square" rtlCol="0" anchor="ctr"/>
          <a:lstStyle/>
          <a:p>
            <a:pPr marL="0" indent="0">
              <a:buNone/>
            </a:pPr>
            <a:r>
              <a:rPr lang="en-US" sz="1300" b="1" kern="0" spc="400" dirty="0">
                <a:solidFill>
                  <a:srgbClr val="C8102E"/>
                </a:solidFill>
                <a:latin typeface="Calibri" pitchFamily="34" charset="0"/>
                <a:ea typeface="Calibri" pitchFamily="34" charset="-122"/>
                <a:cs typeface="Calibri" pitchFamily="34" charset="-120"/>
              </a:rPr>
              <a:t>PRO TIP</a:t>
            </a:r>
            <a:endParaRPr lang="en-US" sz="1300" dirty="0"/>
          </a:p>
        </p:txBody>
      </p:sp>
      <p:sp>
        <p:nvSpPr>
          <p:cNvPr id="38" name="Text 36"/>
          <p:cNvSpPr/>
          <p:nvPr/>
        </p:nvSpPr>
        <p:spPr>
          <a:xfrm>
            <a:off x="2103120" y="5074920"/>
            <a:ext cx="9418320" cy="10058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Save the prompts that work. Copilot's Prompt Gallery lets you store, tag, and share your best prompts across your Zava Shipping team — turning one good prompt into shared institutional muscle.</a:t>
            </a:r>
            <a:endParaRPr lang="en-US" sz="1300" dirty="0"/>
          </a:p>
        </p:txBody>
      </p:sp>
      <p:sp>
        <p:nvSpPr>
          <p:cNvPr id="39" name="Text 37"/>
          <p:cNvSpPr/>
          <p:nvPr/>
        </p:nvSpPr>
        <p:spPr>
          <a:xfrm>
            <a:off x="457200" y="6355080"/>
            <a:ext cx="11247120" cy="320040"/>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Zava Shipping  |  Microsoft 365 Copilot Executive Prompt Guide  |  2026</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E0854"/>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FF6600"/>
          </a:solidFill>
          <a:ln/>
        </p:spPr>
        <p:txBody>
          <a:bodyPr/>
          <a:lstStyle/>
          <a:p>
            <a:endParaRPr lang="en-US"/>
          </a:p>
        </p:txBody>
      </p:sp>
      <p:sp>
        <p:nvSpPr>
          <p:cNvPr id="3" name="Text 1"/>
          <p:cNvSpPr/>
          <p:nvPr/>
        </p:nvSpPr>
        <p:spPr>
          <a:xfrm>
            <a:off x="777240" y="502920"/>
            <a:ext cx="10515600" cy="73152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Your Copilot Adoption Journey</a:t>
            </a:r>
            <a:endParaRPr lang="en-US" sz="3800" dirty="0"/>
          </a:p>
        </p:txBody>
      </p:sp>
      <p:sp>
        <p:nvSpPr>
          <p:cNvPr id="4" name="Text 2"/>
          <p:cNvSpPr/>
          <p:nvPr/>
        </p:nvSpPr>
        <p:spPr>
          <a:xfrm>
            <a:off x="777240" y="1188720"/>
            <a:ext cx="10515600" cy="457200"/>
          </a:xfrm>
          <a:prstGeom prst="rect">
            <a:avLst/>
          </a:prstGeom>
          <a:noFill/>
          <a:ln/>
        </p:spPr>
        <p:txBody>
          <a:bodyPr wrap="square" rtlCol="0" anchor="ctr"/>
          <a:lstStyle/>
          <a:p>
            <a:pPr marL="0" indent="0">
              <a:buNone/>
            </a:pPr>
            <a:r>
              <a:rPr lang="en-US" sz="1700" i="1" dirty="0">
                <a:solidFill>
                  <a:srgbClr val="FF6600"/>
                </a:solidFill>
                <a:latin typeface="Calibri" pitchFamily="34" charset="0"/>
                <a:ea typeface="Calibri" pitchFamily="34" charset="-122"/>
                <a:cs typeface="Calibri" pitchFamily="34" charset="-120"/>
              </a:rPr>
              <a:t>Three steps to unlock full value from Microsoft 365 Copilot at Zava Shipping</a:t>
            </a:r>
            <a:endParaRPr lang="en-US" sz="1700" dirty="0"/>
          </a:p>
        </p:txBody>
      </p:sp>
      <p:sp>
        <p:nvSpPr>
          <p:cNvPr id="5" name="Shape 3"/>
          <p:cNvSpPr/>
          <p:nvPr/>
        </p:nvSpPr>
        <p:spPr>
          <a:xfrm>
            <a:off x="777240" y="1783080"/>
            <a:ext cx="1828800" cy="45720"/>
          </a:xfrm>
          <a:prstGeom prst="rect">
            <a:avLst/>
          </a:prstGeom>
          <a:solidFill>
            <a:srgbClr val="C8102E"/>
          </a:solidFill>
          <a:ln/>
        </p:spPr>
        <p:txBody>
          <a:bodyPr/>
          <a:lstStyle/>
          <a:p>
            <a:endParaRPr lang="en-US"/>
          </a:p>
        </p:txBody>
      </p:sp>
      <p:sp>
        <p:nvSpPr>
          <p:cNvPr id="6" name="Shape 4"/>
          <p:cNvSpPr/>
          <p:nvPr/>
        </p:nvSpPr>
        <p:spPr>
          <a:xfrm>
            <a:off x="777240" y="2286000"/>
            <a:ext cx="3520440" cy="3520440"/>
          </a:xfrm>
          <a:prstGeom prst="rect">
            <a:avLst/>
          </a:prstGeom>
          <a:solidFill>
            <a:srgbClr val="3A1070"/>
          </a:solidFill>
          <a:ln w="12700">
            <a:solidFill>
              <a:srgbClr val="FF6600"/>
            </a:solidFill>
            <a:prstDash val="solid"/>
          </a:ln>
        </p:spPr>
        <p:txBody>
          <a:bodyPr/>
          <a:lstStyle/>
          <a:p>
            <a:endParaRPr lang="en-US"/>
          </a:p>
        </p:txBody>
      </p:sp>
      <p:sp>
        <p:nvSpPr>
          <p:cNvPr id="7" name="Text 5"/>
          <p:cNvSpPr/>
          <p:nvPr/>
        </p:nvSpPr>
        <p:spPr>
          <a:xfrm>
            <a:off x="1051560" y="2468880"/>
            <a:ext cx="1371600" cy="1371600"/>
          </a:xfrm>
          <a:prstGeom prst="rect">
            <a:avLst/>
          </a:prstGeom>
          <a:noFill/>
          <a:ln/>
        </p:spPr>
        <p:txBody>
          <a:bodyPr wrap="square" rtlCol="0" anchor="ctr"/>
          <a:lstStyle/>
          <a:p>
            <a:pPr marL="0" indent="0">
              <a:buNone/>
            </a:pPr>
            <a:r>
              <a:rPr lang="en-US" sz="7200" b="1" dirty="0">
                <a:solidFill>
                  <a:srgbClr val="C8102E"/>
                </a:solidFill>
                <a:latin typeface="Calibri" pitchFamily="34" charset="0"/>
                <a:ea typeface="Calibri" pitchFamily="34" charset="-122"/>
                <a:cs typeface="Calibri" pitchFamily="34" charset="-120"/>
              </a:rPr>
              <a:t>1</a:t>
            </a:r>
            <a:endParaRPr lang="en-US" sz="7200" dirty="0"/>
          </a:p>
        </p:txBody>
      </p:sp>
      <p:sp>
        <p:nvSpPr>
          <p:cNvPr id="8" name="Shape 6"/>
          <p:cNvSpPr/>
          <p:nvPr/>
        </p:nvSpPr>
        <p:spPr>
          <a:xfrm>
            <a:off x="1051560" y="3886200"/>
            <a:ext cx="548640" cy="36576"/>
          </a:xfrm>
          <a:prstGeom prst="rect">
            <a:avLst/>
          </a:prstGeom>
          <a:solidFill>
            <a:srgbClr val="FF6600"/>
          </a:solidFill>
          <a:ln/>
        </p:spPr>
        <p:txBody>
          <a:bodyPr/>
          <a:lstStyle/>
          <a:p>
            <a:endParaRPr lang="en-US"/>
          </a:p>
        </p:txBody>
      </p:sp>
      <p:sp>
        <p:nvSpPr>
          <p:cNvPr id="9" name="Text 7"/>
          <p:cNvSpPr/>
          <p:nvPr/>
        </p:nvSpPr>
        <p:spPr>
          <a:xfrm>
            <a:off x="1051560" y="4069080"/>
            <a:ext cx="2971800" cy="5486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Try It Today</a:t>
            </a:r>
            <a:endParaRPr lang="en-US" sz="2000" dirty="0"/>
          </a:p>
        </p:txBody>
      </p:sp>
      <p:sp>
        <p:nvSpPr>
          <p:cNvPr id="10" name="Text 8"/>
          <p:cNvSpPr/>
          <p:nvPr/>
        </p:nvSpPr>
        <p:spPr>
          <a:xfrm>
            <a:off x="1051560" y="4663440"/>
            <a:ext cx="2971800" cy="10058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Open Copilot Chat, copy a prompt from this guide, and run it on a real Zava Shipping work challenge — a board memo, a customer brief, or a service-center report.</a:t>
            </a:r>
            <a:endParaRPr lang="en-US" sz="1250" dirty="0"/>
          </a:p>
        </p:txBody>
      </p:sp>
      <p:sp>
        <p:nvSpPr>
          <p:cNvPr id="11" name="Shape 9"/>
          <p:cNvSpPr/>
          <p:nvPr/>
        </p:nvSpPr>
        <p:spPr>
          <a:xfrm>
            <a:off x="4526280" y="2286000"/>
            <a:ext cx="3520440" cy="3520440"/>
          </a:xfrm>
          <a:prstGeom prst="rect">
            <a:avLst/>
          </a:prstGeom>
          <a:solidFill>
            <a:srgbClr val="3A1070"/>
          </a:solidFill>
          <a:ln w="12700">
            <a:solidFill>
              <a:srgbClr val="FF6600"/>
            </a:solidFill>
            <a:prstDash val="solid"/>
          </a:ln>
        </p:spPr>
        <p:txBody>
          <a:bodyPr/>
          <a:lstStyle/>
          <a:p>
            <a:endParaRPr lang="en-US"/>
          </a:p>
        </p:txBody>
      </p:sp>
      <p:sp>
        <p:nvSpPr>
          <p:cNvPr id="12" name="Text 10"/>
          <p:cNvSpPr/>
          <p:nvPr/>
        </p:nvSpPr>
        <p:spPr>
          <a:xfrm>
            <a:off x="4800600" y="2468880"/>
            <a:ext cx="1371600" cy="1371600"/>
          </a:xfrm>
          <a:prstGeom prst="rect">
            <a:avLst/>
          </a:prstGeom>
          <a:noFill/>
          <a:ln/>
        </p:spPr>
        <p:txBody>
          <a:bodyPr wrap="square" rtlCol="0" anchor="ctr"/>
          <a:lstStyle/>
          <a:p>
            <a:pPr marL="0" indent="0">
              <a:buNone/>
            </a:pPr>
            <a:r>
              <a:rPr lang="en-US" sz="7200" b="1" dirty="0">
                <a:solidFill>
                  <a:srgbClr val="C8102E"/>
                </a:solidFill>
                <a:latin typeface="Calibri" pitchFamily="34" charset="0"/>
                <a:ea typeface="Calibri" pitchFamily="34" charset="-122"/>
                <a:cs typeface="Calibri" pitchFamily="34" charset="-120"/>
              </a:rPr>
              <a:t>2</a:t>
            </a:r>
            <a:endParaRPr lang="en-US" sz="7200" dirty="0"/>
          </a:p>
        </p:txBody>
      </p:sp>
      <p:sp>
        <p:nvSpPr>
          <p:cNvPr id="13" name="Shape 11"/>
          <p:cNvSpPr/>
          <p:nvPr/>
        </p:nvSpPr>
        <p:spPr>
          <a:xfrm>
            <a:off x="4800600" y="3886200"/>
            <a:ext cx="548640" cy="36576"/>
          </a:xfrm>
          <a:prstGeom prst="rect">
            <a:avLst/>
          </a:prstGeom>
          <a:solidFill>
            <a:srgbClr val="FF6600"/>
          </a:solidFill>
          <a:ln/>
        </p:spPr>
        <p:txBody>
          <a:bodyPr/>
          <a:lstStyle/>
          <a:p>
            <a:endParaRPr lang="en-US"/>
          </a:p>
        </p:txBody>
      </p:sp>
      <p:sp>
        <p:nvSpPr>
          <p:cNvPr id="14" name="Text 12"/>
          <p:cNvSpPr/>
          <p:nvPr/>
        </p:nvSpPr>
        <p:spPr>
          <a:xfrm>
            <a:off x="4800600" y="4069080"/>
            <a:ext cx="2971800" cy="5486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Share What Works</a:t>
            </a:r>
            <a:endParaRPr lang="en-US" sz="2000" dirty="0"/>
          </a:p>
        </p:txBody>
      </p:sp>
      <p:sp>
        <p:nvSpPr>
          <p:cNvPr id="15" name="Text 13"/>
          <p:cNvSpPr/>
          <p:nvPr/>
        </p:nvSpPr>
        <p:spPr>
          <a:xfrm>
            <a:off x="4800600" y="4663440"/>
            <a:ext cx="2971800" cy="10058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Share your best outputs with your team and your Chief of Staff. Capture the prompts that worked in your Prompt Gallery — success stories accelerate adoption across the regions.</a:t>
            </a:r>
            <a:endParaRPr lang="en-US" sz="1250" dirty="0"/>
          </a:p>
        </p:txBody>
      </p:sp>
      <p:sp>
        <p:nvSpPr>
          <p:cNvPr id="16" name="Shape 14"/>
          <p:cNvSpPr/>
          <p:nvPr/>
        </p:nvSpPr>
        <p:spPr>
          <a:xfrm>
            <a:off x="8275320" y="2286000"/>
            <a:ext cx="3520440" cy="3520440"/>
          </a:xfrm>
          <a:prstGeom prst="rect">
            <a:avLst/>
          </a:prstGeom>
          <a:solidFill>
            <a:srgbClr val="3A1070"/>
          </a:solidFill>
          <a:ln w="12700">
            <a:solidFill>
              <a:srgbClr val="FF6600"/>
            </a:solidFill>
            <a:prstDash val="solid"/>
          </a:ln>
        </p:spPr>
        <p:txBody>
          <a:bodyPr/>
          <a:lstStyle/>
          <a:p>
            <a:endParaRPr lang="en-US"/>
          </a:p>
        </p:txBody>
      </p:sp>
      <p:sp>
        <p:nvSpPr>
          <p:cNvPr id="17" name="Text 15"/>
          <p:cNvSpPr/>
          <p:nvPr/>
        </p:nvSpPr>
        <p:spPr>
          <a:xfrm>
            <a:off x="8549640" y="2468880"/>
            <a:ext cx="1371600" cy="1371600"/>
          </a:xfrm>
          <a:prstGeom prst="rect">
            <a:avLst/>
          </a:prstGeom>
          <a:noFill/>
          <a:ln/>
        </p:spPr>
        <p:txBody>
          <a:bodyPr wrap="square" rtlCol="0" anchor="ctr"/>
          <a:lstStyle/>
          <a:p>
            <a:pPr marL="0" indent="0">
              <a:buNone/>
            </a:pPr>
            <a:r>
              <a:rPr lang="en-US" sz="7200" b="1" dirty="0">
                <a:solidFill>
                  <a:srgbClr val="C8102E"/>
                </a:solidFill>
                <a:latin typeface="Calibri" pitchFamily="34" charset="0"/>
                <a:ea typeface="Calibri" pitchFamily="34" charset="-122"/>
                <a:cs typeface="Calibri" pitchFamily="34" charset="-120"/>
              </a:rPr>
              <a:t>3</a:t>
            </a:r>
            <a:endParaRPr lang="en-US" sz="7200" dirty="0"/>
          </a:p>
        </p:txBody>
      </p:sp>
      <p:sp>
        <p:nvSpPr>
          <p:cNvPr id="18" name="Shape 16"/>
          <p:cNvSpPr/>
          <p:nvPr/>
        </p:nvSpPr>
        <p:spPr>
          <a:xfrm>
            <a:off x="8549640" y="3886200"/>
            <a:ext cx="548640" cy="36576"/>
          </a:xfrm>
          <a:prstGeom prst="rect">
            <a:avLst/>
          </a:prstGeom>
          <a:solidFill>
            <a:srgbClr val="FF6600"/>
          </a:solidFill>
          <a:ln/>
        </p:spPr>
        <p:txBody>
          <a:bodyPr/>
          <a:lstStyle/>
          <a:p>
            <a:endParaRPr lang="en-US"/>
          </a:p>
        </p:txBody>
      </p:sp>
      <p:sp>
        <p:nvSpPr>
          <p:cNvPr id="19" name="Text 17"/>
          <p:cNvSpPr/>
          <p:nvPr/>
        </p:nvSpPr>
        <p:spPr>
          <a:xfrm>
            <a:off x="8549640" y="4069080"/>
            <a:ext cx="2971800" cy="5486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Go Deeper</a:t>
            </a:r>
            <a:endParaRPr lang="en-US" sz="2000" dirty="0"/>
          </a:p>
        </p:txBody>
      </p:sp>
      <p:sp>
        <p:nvSpPr>
          <p:cNvPr id="20" name="Text 18"/>
          <p:cNvSpPr/>
          <p:nvPr/>
        </p:nvSpPr>
        <p:spPr>
          <a:xfrm>
            <a:off x="8549640" y="4663440"/>
            <a:ext cx="2971800" cy="10058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Explore Researcher Agent for transportation regulation and competitive intelligence, and Analyst Agent for lane, cost, and service-center performance insights.</a:t>
            </a:r>
            <a:endParaRPr lang="en-US" sz="1250" dirty="0"/>
          </a:p>
        </p:txBody>
      </p:sp>
      <p:sp>
        <p:nvSpPr>
          <p:cNvPr id="21" name="Text 19"/>
          <p:cNvSpPr/>
          <p:nvPr/>
        </p:nvSpPr>
        <p:spPr>
          <a:xfrm>
            <a:off x="777240" y="5989320"/>
            <a:ext cx="10515600" cy="365760"/>
          </a:xfrm>
          <a:prstGeom prst="rect">
            <a:avLst/>
          </a:prstGeom>
          <a:noFill/>
          <a:ln/>
        </p:spPr>
        <p:txBody>
          <a:bodyPr wrap="square" rtlCol="0" anchor="ctr"/>
          <a:lstStyle/>
          <a:p>
            <a:pPr marL="0" indent="0">
              <a:buNone/>
            </a:pPr>
            <a:r>
              <a:rPr lang="en-US" sz="1250" i="1" dirty="0">
                <a:solidFill>
                  <a:srgbClr val="FF6600"/>
                </a:solidFill>
                <a:latin typeface="Calibri" pitchFamily="34" charset="0"/>
                <a:ea typeface="Calibri" pitchFamily="34" charset="-122"/>
                <a:cs typeface="Calibri" pitchFamily="34" charset="-120"/>
              </a:rPr>
              <a:t>Questions? Contact your Microsoft account team or visit microsoft.com/copilot</a:t>
            </a:r>
            <a:endParaRPr lang="en-US" sz="1250" dirty="0"/>
          </a:p>
        </p:txBody>
      </p:sp>
      <p:sp>
        <p:nvSpPr>
          <p:cNvPr id="22" name="Text 20"/>
          <p:cNvSpPr/>
          <p:nvPr/>
        </p:nvSpPr>
        <p:spPr>
          <a:xfrm>
            <a:off x="777240" y="6355080"/>
            <a:ext cx="10515600" cy="320040"/>
          </a:xfrm>
          <a:prstGeom prst="rect">
            <a:avLst/>
          </a:prstGeom>
          <a:noFill/>
          <a:ln/>
        </p:spPr>
        <p:txBody>
          <a:bodyPr wrap="square" rtlCol="0" anchor="ctr"/>
          <a:lstStyle/>
          <a:p>
            <a:pPr marL="0" indent="0">
              <a:buNone/>
            </a:pPr>
            <a:r>
              <a:rPr lang="en-US" sz="1000" kern="0" spc="200" dirty="0">
                <a:solidFill>
                  <a:srgbClr val="FFFFFF"/>
                </a:solidFill>
                <a:latin typeface="Calibri" pitchFamily="34" charset="0"/>
                <a:ea typeface="Calibri" pitchFamily="34" charset="-122"/>
                <a:cs typeface="Calibri" pitchFamily="34" charset="-120"/>
              </a:rPr>
              <a:t>Delivering Excellence  |  Zava Shipping  |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8</TotalTime>
  <Words>4149</Words>
  <Application>Microsoft Office PowerPoint</Application>
  <PresentationFormat>Widescreen</PresentationFormat>
  <Paragraphs>321</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Cory Williams</cp:lastModifiedBy>
  <cp:revision>5</cp:revision>
  <dcterms:created xsi:type="dcterms:W3CDTF">2026-05-29T16:12:01Z</dcterms:created>
  <dcterms:modified xsi:type="dcterms:W3CDTF">2026-06-03T13:28:54Z</dcterms:modified>
</cp:coreProperties>
</file>